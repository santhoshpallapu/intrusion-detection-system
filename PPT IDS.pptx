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sldIdLst>
    <p:sldId id="264" r:id="rId2"/>
    <p:sldId id="267" r:id="rId3"/>
    <p:sldId id="257" r:id="rId4"/>
    <p:sldId id="266" r:id="rId5"/>
    <p:sldId id="270" r:id="rId6"/>
    <p:sldId id="271" r:id="rId7"/>
    <p:sldId id="258" r:id="rId8"/>
    <p:sldId id="260" r:id="rId9"/>
    <p:sldId id="261" r:id="rId10"/>
    <p:sldId id="259" r:id="rId11"/>
    <p:sldId id="272"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63" autoAdjust="0"/>
    <p:restoredTop sz="94660"/>
  </p:normalViewPr>
  <p:slideViewPr>
    <p:cSldViewPr snapToGrid="0">
      <p:cViewPr varScale="1">
        <p:scale>
          <a:sx n="82" d="100"/>
          <a:sy n="82" d="100"/>
        </p:scale>
        <p:origin x="485"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12201452"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914400" y="1752602"/>
            <a:ext cx="103632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5019" y="4953000"/>
            <a:ext cx="12197020"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8203B428-5A61-4AA9-A9BE-8C1142F5E891}" type="datetimeFigureOut">
              <a:rPr lang="en-IN" smtClean="0"/>
              <a:pPr/>
              <a:t>03-02-2026</a:t>
            </a:fld>
            <a:endParaRPr lang="en-IN"/>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IN"/>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6C8069C6-9B6D-43BA-8474-3880620D6A06}"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203B428-5A61-4AA9-A9BE-8C1142F5E891}" type="datetimeFigureOut">
              <a:rPr lang="en-IN" smtClean="0"/>
              <a:pPr/>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8069C6-9B6D-43BA-8474-3880620D6A06}" type="slidenum">
              <a:rPr lang="en-IN" smtClean="0"/>
              <a:pPr/>
              <a:t>‹#›</a:t>
            </a:fld>
            <a:endParaRPr lang="en-IN"/>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168" y="1059712"/>
            <a:ext cx="103632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5230284" y="2931712"/>
            <a:ext cx="6096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8203B428-5A61-4AA9-A9BE-8C1142F5E891}" type="datetimeFigureOut">
              <a:rPr lang="en-IN" smtClean="0"/>
              <a:pPr/>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8069C6-9B6D-43BA-8474-3880620D6A06}" type="slidenum">
              <a:rPr lang="en-IN" smtClean="0"/>
              <a:pPr/>
              <a:t>‹#›</a:t>
            </a:fld>
            <a:endParaRPr lang="en-IN"/>
          </a:p>
        </p:txBody>
      </p:sp>
      <p:sp>
        <p:nvSpPr>
          <p:cNvPr id="7" name="Chevron 6"/>
          <p:cNvSpPr/>
          <p:nvPr/>
        </p:nvSpPr>
        <p:spPr>
          <a:xfrm>
            <a:off x="4848907"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4600352"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8203B428-5A61-4AA9-A9BE-8C1142F5E891}" type="datetimeFigureOut">
              <a:rPr lang="en-IN" smtClean="0"/>
              <a:pPr/>
              <a:t>03-02-2026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C8069C6-9B6D-43BA-8474-3880620D6A06}" type="slidenum">
              <a:rPr lang="en-IN" smtClean="0"/>
              <a:pPr/>
              <a:t>‹#›</a:t>
            </a:fld>
            <a:endParaRPr lang="en-IN"/>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8203B428-5A61-4AA9-A9BE-8C1142F5E891}" type="datetimeFigureOut">
              <a:rPr lang="en-IN" smtClean="0"/>
              <a:pPr/>
              <a:t>03-02-2026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C8069C6-9B6D-43BA-8474-3880620D6A06}" type="slidenum">
              <a:rPr lang="en-IN" smtClean="0"/>
              <a:pPr/>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8203B428-5A61-4AA9-A9BE-8C1142F5E891}" type="datetimeFigureOut">
              <a:rPr lang="en-IN" smtClean="0"/>
              <a:pPr/>
              <a:t>03-02-2026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C8069C6-9B6D-43BA-8474-3880620D6A06}" type="slidenum">
              <a:rPr lang="en-IN" smtClean="0"/>
              <a:pPr/>
              <a:t>‹#›</a:t>
            </a:fld>
            <a:endParaRPr lang="en-IN"/>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03B428-5A61-4AA9-A9BE-8C1142F5E891}" type="datetimeFigureOut">
              <a:rPr lang="en-IN" smtClean="0"/>
              <a:pPr/>
              <a:t>03-02-2026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C8069C6-9B6D-43BA-8474-3880620D6A06}"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4876800"/>
            <a:ext cx="9975701"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8969376" y="6407944"/>
            <a:ext cx="2560320" cy="365760"/>
          </a:xfrm>
        </p:spPr>
        <p:txBody>
          <a:bodyPr/>
          <a:lstStyle/>
          <a:p>
            <a:fld id="{8203B428-5A61-4AA9-A9BE-8C1142F5E891}" type="datetimeFigureOut">
              <a:rPr lang="en-IN" smtClean="0"/>
              <a:pPr/>
              <a:t>03-02-2026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C8069C6-9B6D-43BA-8474-3880620D6A06}" type="slidenum">
              <a:rPr lang="en-IN" smtClean="0"/>
              <a:pPr/>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521643" y="5443402"/>
            <a:ext cx="95504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8203B428-5A61-4AA9-A9BE-8C1142F5E891}" type="datetimeFigureOut">
              <a:rPr lang="en-IN" smtClean="0"/>
              <a:pPr/>
              <a:t>03-02-2026</a:t>
            </a:fld>
            <a:endParaRPr lang="en-IN"/>
          </a:p>
        </p:txBody>
      </p:sp>
      <p:sp>
        <p:nvSpPr>
          <p:cNvPr id="6" name="Footer Placeholder 5"/>
          <p:cNvSpPr>
            <a:spLocks noGrp="1"/>
          </p:cNvSpPr>
          <p:nvPr>
            <p:ph type="ftr" sz="quarter" idx="11"/>
          </p:nvPr>
        </p:nvSpPr>
        <p:spPr>
          <a:xfrm>
            <a:off x="5840097" y="6407945"/>
            <a:ext cx="3134241" cy="365125"/>
          </a:xfrm>
        </p:spPr>
        <p:txBody>
          <a:bodyPr/>
          <a:lstStyle>
            <a:lvl1pPr>
              <a:defRPr>
                <a:solidFill>
                  <a:schemeClr val="tx1"/>
                </a:solidFill>
              </a:defRPr>
            </a:lvl1pPr>
            <a:extLst/>
          </a:lstStyle>
          <a:p>
            <a:endParaRPr lang="en-IN"/>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6C8069C6-9B6D-43BA-8474-3880620D6A06}" type="slidenum">
              <a:rPr lang="en-IN" smtClean="0"/>
              <a:pPr/>
              <a:t>‹#›</a:t>
            </a:fld>
            <a:endParaRPr lang="en-IN"/>
          </a:p>
        </p:txBody>
      </p:sp>
      <p:sp>
        <p:nvSpPr>
          <p:cNvPr id="2" name="Title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955249" y="5001994"/>
            <a:ext cx="5069337"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71414" y="5785023"/>
            <a:ext cx="506933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8056" y="5791253"/>
            <a:ext cx="4536419"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11552149"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11303595"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609600" y="1481330"/>
            <a:ext cx="109728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203B428-5A61-4AA9-A9BE-8C1142F5E891}" type="datetimeFigureOut">
              <a:rPr lang="en-IN" smtClean="0"/>
              <a:pPr/>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8069C6-9B6D-43BA-8474-3880620D6A06}"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1"/>
            <a:ext cx="236996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41"/>
            <a:ext cx="84328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203B428-5A61-4AA9-A9BE-8C1142F5E891}" type="datetimeFigureOut">
              <a:rPr lang="en-IN" smtClean="0"/>
              <a:pPr/>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8069C6-9B6D-43BA-8474-3880620D6A06}"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955249" y="5001994"/>
            <a:ext cx="5069337"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71414" y="5785023"/>
            <a:ext cx="506933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8056" y="5791253"/>
            <a:ext cx="4536419"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609600" y="1481329"/>
            <a:ext cx="109728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8969376" y="6407944"/>
            <a:ext cx="2560320" cy="365760"/>
          </a:xfrm>
          <a:prstGeom prst="rect">
            <a:avLst/>
          </a:prstGeom>
        </p:spPr>
        <p:txBody>
          <a:bodyPr vert="horz" anchor="b"/>
          <a:lstStyle>
            <a:lvl1pPr algn="l" eaLnBrk="1" latinLnBrk="0" hangingPunct="1">
              <a:defRPr kumimoji="0" sz="1000">
                <a:solidFill>
                  <a:schemeClr val="tx1"/>
                </a:solidFill>
              </a:defRPr>
            </a:lvl1pPr>
            <a:extLst/>
          </a:lstStyle>
          <a:p>
            <a:fld id="{8203B428-5A61-4AA9-A9BE-8C1142F5E891}" type="datetimeFigureOut">
              <a:rPr lang="en-IN" smtClean="0"/>
              <a:pPr/>
              <a:t>03-02-2026</a:t>
            </a:fld>
            <a:endParaRPr lang="en-IN"/>
          </a:p>
        </p:txBody>
      </p:sp>
      <p:sp>
        <p:nvSpPr>
          <p:cNvPr id="22" name="Footer Placeholder 21"/>
          <p:cNvSpPr>
            <a:spLocks noGrp="1"/>
          </p:cNvSpPr>
          <p:nvPr>
            <p:ph type="ftr" sz="quarter" idx="3"/>
          </p:nvPr>
        </p:nvSpPr>
        <p:spPr>
          <a:xfrm>
            <a:off x="5840097" y="6407945"/>
            <a:ext cx="3134241" cy="365125"/>
          </a:xfrm>
          <a:prstGeom prst="rect">
            <a:avLst/>
          </a:prstGeom>
        </p:spPr>
        <p:txBody>
          <a:bodyPr vert="horz" anchor="b"/>
          <a:lstStyle>
            <a:lvl1pPr algn="r" eaLnBrk="1" latinLnBrk="0" hangingPunct="1">
              <a:defRPr kumimoji="0" sz="1000">
                <a:solidFill>
                  <a:schemeClr val="tx1"/>
                </a:solidFill>
              </a:defRPr>
            </a:lvl1pPr>
            <a:extLst/>
          </a:lstStyle>
          <a:p>
            <a:endParaRPr lang="en-IN"/>
          </a:p>
        </p:txBody>
      </p:sp>
      <p:sp>
        <p:nvSpPr>
          <p:cNvPr id="18" name="Slide Number Placeholder 17"/>
          <p:cNvSpPr>
            <a:spLocks noGrp="1"/>
          </p:cNvSpPr>
          <p:nvPr>
            <p:ph type="sldNum" sz="quarter" idx="4"/>
          </p:nvPr>
        </p:nvSpPr>
        <p:spPr>
          <a:xfrm>
            <a:off x="11529696" y="6407945"/>
            <a:ext cx="487680" cy="365125"/>
          </a:xfrm>
          <a:prstGeom prst="rect">
            <a:avLst/>
          </a:prstGeom>
        </p:spPr>
        <p:txBody>
          <a:bodyPr vert="horz" anchor="b"/>
          <a:lstStyle>
            <a:lvl1pPr algn="r" eaLnBrk="1" latinLnBrk="0" hangingPunct="1">
              <a:defRPr kumimoji="0" sz="1000" b="0">
                <a:solidFill>
                  <a:schemeClr val="tx1"/>
                </a:solidFill>
              </a:defRPr>
            </a:lvl1pPr>
            <a:extLst/>
          </a:lstStyle>
          <a:p>
            <a:fld id="{6C8069C6-9B6D-43BA-8474-3880620D6A06}"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AA3FE-2558-72D1-1972-8B08BB2E443E}"/>
              </a:ext>
            </a:extLst>
          </p:cNvPr>
          <p:cNvSpPr txBox="1">
            <a:spLocks/>
          </p:cNvSpPr>
          <p:nvPr/>
        </p:nvSpPr>
        <p:spPr>
          <a:xfrm>
            <a:off x="2386262" y="2859037"/>
            <a:ext cx="7772400" cy="92432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sz="24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005EAFF-990E-AFC3-F3C1-A622ECC35BF7}"/>
              </a:ext>
            </a:extLst>
          </p:cNvPr>
          <p:cNvSpPr txBox="1"/>
          <p:nvPr/>
        </p:nvSpPr>
        <p:spPr>
          <a:xfrm>
            <a:off x="232399" y="606537"/>
            <a:ext cx="11727201" cy="1569660"/>
          </a:xfrm>
          <a:prstGeom prst="rect">
            <a:avLst/>
          </a:prstGeom>
          <a:noFill/>
        </p:spPr>
        <p:txBody>
          <a:bodyPr wrap="square">
            <a:spAutoFit/>
          </a:bodyPr>
          <a:lstStyle/>
          <a:p>
            <a:pPr algn="ctr"/>
            <a:r>
              <a:rPr lang="en-US" sz="2400" b="1" dirty="0">
                <a:solidFill>
                  <a:srgbClr val="C00000"/>
                </a:solidFill>
                <a:latin typeface="Times New Roman" pitchFamily="18" charset="0"/>
                <a:cs typeface="Times New Roman" pitchFamily="18" charset="0"/>
              </a:rPr>
              <a:t>  PBR VISVODAYA INSTITUTE OF TECHNOLOGY AND SCIENCE</a:t>
            </a:r>
          </a:p>
          <a:p>
            <a:pPr algn="ctr"/>
            <a:endParaRPr lang="en-US" sz="2400" b="1" dirty="0">
              <a:solidFill>
                <a:srgbClr val="C00000"/>
              </a:solidFill>
              <a:latin typeface="Times New Roman" pitchFamily="18" charset="0"/>
              <a:cs typeface="Times New Roman" pitchFamily="18" charset="0"/>
            </a:endParaRPr>
          </a:p>
          <a:p>
            <a:pPr algn="ctr"/>
            <a:endParaRPr lang="en-US" sz="2400" b="1" dirty="0">
              <a:solidFill>
                <a:schemeClr val="accent5">
                  <a:lumMod val="75000"/>
                </a:schemeClr>
              </a:solidFill>
              <a:latin typeface="Times New Roman" pitchFamily="18" charset="0"/>
              <a:cs typeface="Times New Roman" pitchFamily="18" charset="0"/>
            </a:endParaRPr>
          </a:p>
          <a:p>
            <a:pPr algn="ctr"/>
            <a:endParaRPr lang="en-US" sz="2400" b="1" dirty="0">
              <a:solidFill>
                <a:schemeClr val="accent5">
                  <a:lumMod val="75000"/>
                </a:schemeClr>
              </a:solidFill>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1241BB6A-C231-4EFB-B949-3659FF85BB4B}"/>
              </a:ext>
            </a:extLst>
          </p:cNvPr>
          <p:cNvPicPr>
            <a:picLocks noChangeAspect="1"/>
          </p:cNvPicPr>
          <p:nvPr/>
        </p:nvPicPr>
        <p:blipFill>
          <a:blip r:embed="rId2"/>
          <a:stretch>
            <a:fillRect/>
          </a:stretch>
        </p:blipFill>
        <p:spPr>
          <a:xfrm>
            <a:off x="4757230" y="1257828"/>
            <a:ext cx="1816875" cy="1652700"/>
          </a:xfrm>
          <a:prstGeom prst="rect">
            <a:avLst/>
          </a:prstGeom>
        </p:spPr>
      </p:pic>
      <p:sp>
        <p:nvSpPr>
          <p:cNvPr id="5" name="TextBox 4">
            <a:extLst>
              <a:ext uri="{FF2B5EF4-FFF2-40B4-BE49-F238E27FC236}">
                <a16:creationId xmlns:a16="http://schemas.microsoft.com/office/drawing/2014/main" id="{E31A07C3-2F03-257F-7EC0-A292D6A4EA42}"/>
              </a:ext>
            </a:extLst>
          </p:cNvPr>
          <p:cNvSpPr txBox="1"/>
          <p:nvPr/>
        </p:nvSpPr>
        <p:spPr>
          <a:xfrm>
            <a:off x="3541618" y="3090777"/>
            <a:ext cx="4572000" cy="369332"/>
          </a:xfrm>
          <a:prstGeom prst="rect">
            <a:avLst/>
          </a:prstGeom>
          <a:noFill/>
        </p:spPr>
        <p:txBody>
          <a:bodyPr wrap="square">
            <a:spAutoFit/>
          </a:bodyPr>
          <a:lstStyle/>
          <a:p>
            <a:pPr algn="ctr"/>
            <a:r>
              <a:rPr lang="en-US" sz="1800" b="1" dirty="0">
                <a:solidFill>
                  <a:srgbClr val="00B050"/>
                </a:solidFill>
                <a:latin typeface="Times New Roman" pitchFamily="18" charset="0"/>
                <a:cs typeface="Times New Roman" pitchFamily="18" charset="0"/>
              </a:rPr>
              <a:t>DEPARTMENT OF AIML </a:t>
            </a:r>
          </a:p>
        </p:txBody>
      </p:sp>
      <p:sp>
        <p:nvSpPr>
          <p:cNvPr id="6" name="TextBox 5">
            <a:extLst>
              <a:ext uri="{FF2B5EF4-FFF2-40B4-BE49-F238E27FC236}">
                <a16:creationId xmlns:a16="http://schemas.microsoft.com/office/drawing/2014/main" id="{D64DF7AC-0D7C-8A88-4A23-E087021D4180}"/>
              </a:ext>
            </a:extLst>
          </p:cNvPr>
          <p:cNvSpPr txBox="1"/>
          <p:nvPr/>
        </p:nvSpPr>
        <p:spPr>
          <a:xfrm>
            <a:off x="465221" y="4681803"/>
            <a:ext cx="4572000" cy="1123384"/>
          </a:xfrm>
          <a:prstGeom prst="rect">
            <a:avLst/>
          </a:prstGeom>
          <a:noFill/>
        </p:spPr>
        <p:txBody>
          <a:bodyPr wrap="square">
            <a:spAutoFit/>
          </a:bodyPr>
          <a:lstStyle/>
          <a:p>
            <a:pPr algn="just"/>
            <a:r>
              <a:rPr lang="en-US" sz="2000" b="1" dirty="0">
                <a:solidFill>
                  <a:srgbClr val="FF0000"/>
                </a:solidFill>
                <a:latin typeface="Times New Roman" pitchFamily="18" charset="0"/>
                <a:cs typeface="Times New Roman" pitchFamily="18" charset="0"/>
              </a:rPr>
              <a:t>Project Guide:</a:t>
            </a:r>
          </a:p>
          <a:p>
            <a:endParaRPr lang="en-US" sz="900" b="1" dirty="0">
              <a:solidFill>
                <a:srgbClr val="FF0000"/>
              </a:solidFill>
              <a:latin typeface="Times New Roman" pitchFamily="18" charset="0"/>
              <a:cs typeface="Times New Roman" pitchFamily="18" charset="0"/>
            </a:endParaRPr>
          </a:p>
          <a:p>
            <a:r>
              <a:rPr lang="en-US" sz="2000" b="1" dirty="0">
                <a:solidFill>
                  <a:srgbClr val="0070C0"/>
                </a:solidFill>
                <a:latin typeface="Times New Roman" panose="02020603050405020304" pitchFamily="18" charset="0"/>
                <a:cs typeface="Times New Roman" panose="02020603050405020304" pitchFamily="18" charset="0"/>
              </a:rPr>
              <a:t>Dr. M. Praveen Kumar </a:t>
            </a:r>
            <a:endParaRPr lang="en-IN" sz="2000" b="1" dirty="0">
              <a:solidFill>
                <a:srgbClr val="0070C0"/>
              </a:solidFill>
              <a:latin typeface="Times New Roman" panose="02020603050405020304" pitchFamily="18" charset="0"/>
              <a:cs typeface="Times New Roman" panose="02020603050405020304" pitchFamily="18" charset="0"/>
            </a:endParaRPr>
          </a:p>
          <a:p>
            <a:endParaRPr lang="en-IN" sz="1800" b="1" dirty="0">
              <a:solidFill>
                <a:schemeClr val="accent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04752D7E-365C-37BE-E57C-0AE080D5952E}"/>
              </a:ext>
            </a:extLst>
          </p:cNvPr>
          <p:cNvSpPr txBox="1"/>
          <p:nvPr/>
        </p:nvSpPr>
        <p:spPr>
          <a:xfrm>
            <a:off x="7558024" y="4336898"/>
            <a:ext cx="4633976" cy="2115772"/>
          </a:xfrm>
          <a:prstGeom prst="rect">
            <a:avLst/>
          </a:prstGeom>
          <a:noFill/>
        </p:spPr>
        <p:txBody>
          <a:bodyPr wrap="square">
            <a:spAutoFit/>
          </a:bodyPr>
          <a:lstStyle/>
          <a:p>
            <a:r>
              <a:rPr lang="en-US" sz="2000" b="1" dirty="0">
                <a:solidFill>
                  <a:srgbClr val="FF0000"/>
                </a:solidFill>
                <a:latin typeface="Times New Roman" pitchFamily="18" charset="0"/>
                <a:cs typeface="Times New Roman" pitchFamily="18" charset="0"/>
              </a:rPr>
              <a:t>Batch no: 2239C4</a:t>
            </a:r>
            <a:endParaRPr lang="en-US" sz="2000" b="1" dirty="0">
              <a:solidFill>
                <a:schemeClr val="tx1">
                  <a:lumMod val="95000"/>
                  <a:lumOff val="5000"/>
                </a:schemeClr>
              </a:solidFill>
              <a:latin typeface="Times New Roman" pitchFamily="18" charset="0"/>
              <a:cs typeface="Times New Roman" pitchFamily="18" charset="0"/>
            </a:endParaRPr>
          </a:p>
          <a:p>
            <a:pPr>
              <a:lnSpc>
                <a:spcPct val="150000"/>
              </a:lnSpc>
            </a:pPr>
            <a:r>
              <a:rPr lang="en-US" sz="2000" b="1" dirty="0">
                <a:solidFill>
                  <a:schemeClr val="accent2">
                    <a:lumMod val="50000"/>
                  </a:schemeClr>
                </a:solidFill>
                <a:latin typeface="Times New Roman" pitchFamily="18" charset="0"/>
                <a:cs typeface="Times New Roman" pitchFamily="18" charset="0"/>
              </a:rPr>
              <a:t>Project Members:</a:t>
            </a:r>
          </a:p>
          <a:p>
            <a:pPr marL="342900" indent="-342900">
              <a:lnSpc>
                <a:spcPct val="150000"/>
              </a:lnSpc>
              <a:buFont typeface="+mj-lt"/>
              <a:buAutoNum type="arabicPeriod"/>
            </a:pPr>
            <a:r>
              <a:rPr lang="en-US" sz="1400" b="1" dirty="0">
                <a:latin typeface="Times New Roman" panose="02020603050405020304" pitchFamily="18" charset="0"/>
                <a:cs typeface="Times New Roman" panose="02020603050405020304" pitchFamily="18" charset="0"/>
              </a:rPr>
              <a:t>PALLAPU SANTHOSH – 2273A39127</a:t>
            </a:r>
            <a:endParaRPr lang="en-IN" sz="1400" b="1" dirty="0">
              <a:latin typeface="Times New Roman" panose="02020603050405020304" pitchFamily="18" charset="0"/>
              <a:cs typeface="Times New Roman" panose="02020603050405020304" pitchFamily="18" charset="0"/>
            </a:endParaRPr>
          </a:p>
          <a:p>
            <a:pPr marL="342900" indent="-342900">
              <a:lnSpc>
                <a:spcPct val="150000"/>
              </a:lnSpc>
              <a:buFont typeface="+mj-lt"/>
              <a:buAutoNum type="arabicPeriod"/>
            </a:pPr>
            <a:r>
              <a:rPr lang="en-US" sz="1400" b="1" dirty="0">
                <a:latin typeface="Times New Roman" panose="02020603050405020304" pitchFamily="18" charset="0"/>
                <a:cs typeface="Times New Roman" panose="02020603050405020304" pitchFamily="18" charset="0"/>
              </a:rPr>
              <a:t>DANDU GANESH – 2273A39079</a:t>
            </a:r>
            <a:endParaRPr lang="en-IN" sz="1400" b="1" dirty="0">
              <a:latin typeface="Times New Roman" panose="02020603050405020304" pitchFamily="18" charset="0"/>
              <a:cs typeface="Times New Roman" panose="02020603050405020304" pitchFamily="18" charset="0"/>
            </a:endParaRPr>
          </a:p>
          <a:p>
            <a:pPr marL="342900" indent="-342900">
              <a:lnSpc>
                <a:spcPct val="150000"/>
              </a:lnSpc>
              <a:buAutoNum type="arabicPeriod" startAt="3"/>
            </a:pPr>
            <a:r>
              <a:rPr lang="en-US" sz="1400" b="1" dirty="0">
                <a:latin typeface="Times New Roman" panose="02020603050405020304" pitchFamily="18" charset="0"/>
                <a:cs typeface="Times New Roman" panose="02020603050405020304" pitchFamily="18" charset="0"/>
              </a:rPr>
              <a:t>NALLANI JASWANTH – 2273A39099</a:t>
            </a:r>
            <a:endParaRPr lang="en-IN" sz="1400" b="1" dirty="0">
              <a:latin typeface="Times New Roman" panose="02020603050405020304" pitchFamily="18" charset="0"/>
              <a:cs typeface="Times New Roman" panose="02020603050405020304" pitchFamily="18" charset="0"/>
            </a:endParaRPr>
          </a:p>
          <a:p>
            <a:pPr marL="342900" indent="-342900">
              <a:lnSpc>
                <a:spcPct val="150000"/>
              </a:lnSpc>
              <a:buAutoNum type="arabicPeriod" startAt="3"/>
            </a:pPr>
            <a:r>
              <a:rPr lang="en-US" sz="1400" b="1" dirty="0">
                <a:latin typeface="Times New Roman" panose="02020603050405020304" pitchFamily="18" charset="0"/>
                <a:cs typeface="Times New Roman" panose="02020603050405020304" pitchFamily="18" charset="0"/>
              </a:rPr>
              <a:t>VENUTHURLA NAVEEN – 2273A39L01</a:t>
            </a:r>
            <a:endParaRPr lang="en-IN" sz="1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2878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8B04E-5C2E-4257-0773-00B3A33C1B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B4A8B9-9A18-C94D-7FCD-FFC3BEBD747C}"/>
              </a:ext>
            </a:extLst>
          </p:cNvPr>
          <p:cNvSpPr>
            <a:spLocks noGrp="1"/>
          </p:cNvSpPr>
          <p:nvPr>
            <p:ph type="ctrTitle"/>
          </p:nvPr>
        </p:nvSpPr>
        <p:spPr>
          <a:xfrm>
            <a:off x="0" y="2067697"/>
            <a:ext cx="12192000" cy="1950850"/>
          </a:xfrm>
        </p:spPr>
        <p:txBody>
          <a:bodyPr>
            <a:noAutofit/>
          </a:bodyPr>
          <a:lstStyle/>
          <a:p>
            <a:pPr algn="ctr"/>
            <a:r>
              <a:rPr lang="en-US" sz="4400" b="1" dirty="0">
                <a:latin typeface="Times New Roman" panose="02020603050405020304" pitchFamily="18" charset="0"/>
                <a:cs typeface="Times New Roman" panose="02020603050405020304" pitchFamily="18" charset="0"/>
              </a:rPr>
              <a:t>MACHINE LEARNING BASED INTRUSION DETECTION SYSTEM IN CLOUD ENVIRONMENT</a:t>
            </a:r>
            <a:endParaRPr lang="en-IN"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4116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br>
              <a:rPr lang="en-US" b="1" dirty="0"/>
            </a:br>
            <a:r>
              <a:rPr lang="en-US" sz="4900" dirty="0">
                <a:latin typeface="Times New Roman" panose="02020603050405020304" pitchFamily="18" charset="0"/>
                <a:cs typeface="Times New Roman" panose="02020603050405020304" pitchFamily="18" charset="0"/>
              </a:rPr>
              <a:t>ABSTRACT</a:t>
            </a:r>
            <a:br>
              <a:rPr lang="en-IN" sz="4900" dirty="0">
                <a:latin typeface="Times New Roman" panose="02020603050405020304" pitchFamily="18" charset="0"/>
                <a:cs typeface="Times New Roman" panose="02020603050405020304" pitchFamily="18" charset="0"/>
              </a:rPr>
            </a:br>
            <a:endParaRPr lang="en-IN" sz="4900" dirty="0">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39BB0031-44E3-685A-B2A3-F063B9397929}"/>
              </a:ext>
            </a:extLst>
          </p:cNvPr>
          <p:cNvSpPr>
            <a:spLocks noGrp="1"/>
          </p:cNvSpPr>
          <p:nvPr>
            <p:ph idx="1"/>
          </p:nvPr>
        </p:nvSpPr>
        <p:spPr>
          <a:xfrm>
            <a:off x="609600" y="1481138"/>
            <a:ext cx="10972800" cy="4525962"/>
          </a:xfrm>
        </p:spPr>
        <p:txBody>
          <a:bodyPr>
            <a:noAutofit/>
          </a:bodyPr>
          <a:lstStyle/>
          <a:p>
            <a:pPr algn="just">
              <a:lnSpc>
                <a:spcPct val="150000"/>
              </a:lnSpc>
            </a:pPr>
            <a:r>
              <a:rPr lang="en-US" sz="2000" dirty="0">
                <a:latin typeface="Times New Roman" panose="02020603050405020304" pitchFamily="18" charset="0"/>
                <a:cs typeface="Times New Roman" panose="02020603050405020304" pitchFamily="18" charset="0"/>
              </a:rPr>
              <a:t>Cloud computing (CC) is a novel technology that has made it easier to access network and computer resources on demand such as storage and data management services. </a:t>
            </a:r>
          </a:p>
          <a:p>
            <a:pPr algn="just">
              <a:lnSpc>
                <a:spcPct val="150000"/>
              </a:lnSpc>
            </a:pPr>
            <a:r>
              <a:rPr lang="en-US" sz="2000" dirty="0">
                <a:latin typeface="Times New Roman" panose="02020603050405020304" pitchFamily="18" charset="0"/>
                <a:cs typeface="Times New Roman" panose="02020603050405020304" pitchFamily="18" charset="0"/>
              </a:rPr>
              <a:t>In addition, it aims to strengthen systems and make them useful. </a:t>
            </a:r>
          </a:p>
          <a:p>
            <a:pPr algn="just">
              <a:lnSpc>
                <a:spcPct val="150000"/>
              </a:lnSpc>
            </a:pPr>
            <a:r>
              <a:rPr lang="en-US" sz="2000" dirty="0">
                <a:latin typeface="Times New Roman" panose="02020603050405020304" pitchFamily="18" charset="0"/>
                <a:cs typeface="Times New Roman" panose="02020603050405020304" pitchFamily="18" charset="0"/>
              </a:rPr>
              <a:t>Regardless of these advantages, cloud providers suffer from many security limits. </a:t>
            </a:r>
          </a:p>
          <a:p>
            <a:pPr algn="just">
              <a:lnSpc>
                <a:spcPct val="150000"/>
              </a:lnSpc>
            </a:pPr>
            <a:r>
              <a:rPr lang="en-US" sz="2000" dirty="0">
                <a:latin typeface="Times New Roman" panose="02020603050405020304" pitchFamily="18" charset="0"/>
                <a:cs typeface="Times New Roman" panose="02020603050405020304" pitchFamily="18" charset="0"/>
              </a:rPr>
              <a:t>Particularly, the security of resources and services represents a real challenge for cloud technologies. </a:t>
            </a:r>
          </a:p>
          <a:p>
            <a:pPr algn="just">
              <a:lnSpc>
                <a:spcPct val="150000"/>
              </a:lnSpc>
            </a:pPr>
            <a:r>
              <a:rPr lang="en-US" sz="2000" dirty="0">
                <a:latin typeface="Times New Roman" panose="02020603050405020304" pitchFamily="18" charset="0"/>
                <a:cs typeface="Times New Roman" panose="02020603050405020304" pitchFamily="18" charset="0"/>
              </a:rPr>
              <a:t>For this reason, a set of solutions have been implemented to improve cloud security by monitoring resources, services, and networks, then detecting attacks. </a:t>
            </a:r>
          </a:p>
        </p:txBody>
      </p:sp>
    </p:spTree>
    <p:extLst>
      <p:ext uri="{BB962C8B-B14F-4D97-AF65-F5344CB8AC3E}">
        <p14:creationId xmlns:p14="http://schemas.microsoft.com/office/powerpoint/2010/main" val="3408447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5F2A4EA-6E7B-9301-EFE2-BEF52155859F}"/>
              </a:ext>
            </a:extLst>
          </p:cNvPr>
          <p:cNvSpPr txBox="1">
            <a:spLocks/>
          </p:cNvSpPr>
          <p:nvPr/>
        </p:nvSpPr>
        <p:spPr>
          <a:xfrm>
            <a:off x="478971" y="780662"/>
            <a:ext cx="11234057" cy="4230933"/>
          </a:xfrm>
          <a:prstGeom prst="rect">
            <a:avLst/>
          </a:prstGeom>
        </p:spPr>
        <p:txBody>
          <a:bodyPr>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algn="just">
              <a:lnSpc>
                <a:spcPct val="150000"/>
              </a:lnSpc>
            </a:pPr>
            <a:r>
              <a:rPr lang="en-US" sz="2000" dirty="0">
                <a:latin typeface="Times New Roman" panose="02020603050405020304" pitchFamily="18" charset="0"/>
                <a:cs typeface="Times New Roman" panose="02020603050405020304" pitchFamily="18" charset="0"/>
              </a:rPr>
              <a:t>Actually, an intrusion detection system (IDS) is an enhanced mechanism used to control traffic within networks and detect abnormal activities. </a:t>
            </a:r>
          </a:p>
          <a:p>
            <a:pPr algn="just">
              <a:lnSpc>
                <a:spcPct val="150000"/>
              </a:lnSpc>
            </a:pPr>
            <a:r>
              <a:rPr lang="en-US" sz="2000" dirty="0">
                <a:latin typeface="Times New Roman" panose="02020603050405020304" pitchFamily="18" charset="0"/>
                <a:cs typeface="Times New Roman" panose="02020603050405020304" pitchFamily="18" charset="0"/>
              </a:rPr>
              <a:t>This paper presents a cloud-based intrusion detection model based on random forest (RF) and feature engineering. </a:t>
            </a:r>
          </a:p>
          <a:p>
            <a:pPr algn="just">
              <a:lnSpc>
                <a:spcPct val="150000"/>
              </a:lnSpc>
            </a:pPr>
            <a:r>
              <a:rPr lang="en-US" sz="2000" dirty="0">
                <a:latin typeface="Times New Roman" panose="02020603050405020304" pitchFamily="18" charset="0"/>
                <a:cs typeface="Times New Roman" panose="02020603050405020304" pitchFamily="18" charset="0"/>
              </a:rPr>
              <a:t>Specifically, the RF classifier is obtained and integrated to enhance the performance of the proposed detection model. </a:t>
            </a:r>
          </a:p>
          <a:p>
            <a:pPr algn="just">
              <a:lnSpc>
                <a:spcPct val="150000"/>
              </a:lnSpc>
            </a:pPr>
            <a:r>
              <a:rPr lang="en-US" sz="2000" dirty="0">
                <a:latin typeface="Times New Roman" panose="02020603050405020304" pitchFamily="18" charset="0"/>
                <a:cs typeface="Times New Roman" panose="02020603050405020304" pitchFamily="18" charset="0"/>
              </a:rPr>
              <a:t>The proposed model approach has been evaluated and validated on benchmark datasets and shows strong results in terms of accuracy, precision, and recall when compared to recent related works.</a:t>
            </a:r>
          </a:p>
        </p:txBody>
      </p:sp>
    </p:spTree>
    <p:extLst>
      <p:ext uri="{BB962C8B-B14F-4D97-AF65-F5344CB8AC3E}">
        <p14:creationId xmlns:p14="http://schemas.microsoft.com/office/powerpoint/2010/main" val="2861210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DD2FDE5-98F3-B328-89AA-0C22C23B64DC}"/>
              </a:ext>
            </a:extLst>
          </p:cNvPr>
          <p:cNvSpPr>
            <a:spLocks noGrp="1"/>
          </p:cNvSpPr>
          <p:nvPr>
            <p:ph type="title"/>
          </p:nvPr>
        </p:nvSpPr>
        <p:spPr/>
        <p:txBody>
          <a:bodyPr/>
          <a:lstStyle/>
          <a:p>
            <a:pPr algn="ctr"/>
            <a:r>
              <a:rPr lang="en-US" sz="4400" dirty="0">
                <a:latin typeface="Times New Roman" panose="02020603050405020304" pitchFamily="18" charset="0"/>
                <a:cs typeface="Times New Roman" panose="02020603050405020304" pitchFamily="18" charset="0"/>
              </a:rPr>
              <a:t>OBJECTIVE</a:t>
            </a:r>
            <a:endParaRPr lang="en-IN" dirty="0"/>
          </a:p>
        </p:txBody>
      </p:sp>
      <p:sp>
        <p:nvSpPr>
          <p:cNvPr id="7" name="Content Placeholder 6">
            <a:extLst>
              <a:ext uri="{FF2B5EF4-FFF2-40B4-BE49-F238E27FC236}">
                <a16:creationId xmlns:a16="http://schemas.microsoft.com/office/drawing/2014/main" id="{C818919B-278A-20AB-09B5-C1D472ED507D}"/>
              </a:ext>
            </a:extLst>
          </p:cNvPr>
          <p:cNvSpPr>
            <a:spLocks noGrp="1"/>
          </p:cNvSpPr>
          <p:nvPr>
            <p:ph idx="1"/>
          </p:nvPr>
        </p:nvSpPr>
        <p:spPr>
          <a:xfrm>
            <a:off x="609600" y="2088938"/>
            <a:ext cx="10972800" cy="2680124"/>
          </a:xfrm>
        </p:spPr>
        <p:txBody>
          <a:bodyPr/>
          <a:lstStyle/>
          <a:p>
            <a:r>
              <a:rPr lang="en-US" sz="2000" dirty="0">
                <a:latin typeface="Times New Roman" panose="02020603050405020304" pitchFamily="18" charset="0"/>
                <a:cs typeface="Times New Roman" panose="02020603050405020304" pitchFamily="18" charset="0"/>
              </a:rPr>
              <a:t>To design an efficient Intrusion Detection System (IDS) for cloud computing environments.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To detect both known and unknown attacks with reduced computational cost using feature selection and machine learning techniques.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To improve real-time detection accuracy while minimizing false positive rates compared to traditional IDS approaches</a:t>
            </a:r>
            <a:r>
              <a:rPr lang="en-US" sz="2800" dirty="0">
                <a:latin typeface="Times New Roman" panose="02020603050405020304" pitchFamily="18" charset="0"/>
                <a:cs typeface="Times New Roman" panose="02020603050405020304" pitchFamily="18" charset="0"/>
              </a:rPr>
              <a:t>.</a:t>
            </a:r>
            <a:r>
              <a:rPr lang="en-US" dirty="0"/>
              <a:t> </a:t>
            </a:r>
            <a:endParaRPr lang="en-IN" dirty="0"/>
          </a:p>
        </p:txBody>
      </p:sp>
    </p:spTree>
    <p:extLst>
      <p:ext uri="{BB962C8B-B14F-4D97-AF65-F5344CB8AC3E}">
        <p14:creationId xmlns:p14="http://schemas.microsoft.com/office/powerpoint/2010/main" val="3333602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8C11EAC-9111-58E2-36E9-F2F6FFEAE388}"/>
              </a:ext>
            </a:extLst>
          </p:cNvPr>
          <p:cNvSpPr>
            <a:spLocks noGrp="1"/>
          </p:cNvSpPr>
          <p:nvPr>
            <p:ph idx="1"/>
          </p:nvPr>
        </p:nvSpPr>
        <p:spPr>
          <a:xfrm>
            <a:off x="609600" y="1007706"/>
            <a:ext cx="10896600" cy="75535799"/>
          </a:xfrm>
        </p:spPr>
        <p:txBody>
          <a:bodyPr>
            <a:normAutofit/>
          </a:bodyPr>
          <a:lstStyle/>
          <a:p>
            <a:r>
              <a:rPr lang="en-US" sz="2000" dirty="0">
                <a:latin typeface="Times New Roman" panose="02020603050405020304" pitchFamily="18" charset="0"/>
                <a:cs typeface="Times New Roman" panose="02020603050405020304" pitchFamily="18" charset="0"/>
              </a:rPr>
              <a:t>Cloud computing provides scalable and on-demand services such as storage, processing, and networking.</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Shared infrastructure, virtualization, and high traffic make cloud environments vulnerable to security threats.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Intrusion Detection Systems (IDS) are essential for monitoring network traffic and detecting malicious activities.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Traditional signature-based and rule-based IDS fail to detect new and evolving attacks.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Machine learning-based IDS improve detection but suffer from high dimensionality, overfitting, and slow performance, creating the need for an optimized IDS.</a:t>
            </a:r>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E5D9F2F5-4C03-68A0-7E97-377AC2B559A9}"/>
              </a:ext>
            </a:extLst>
          </p:cNvPr>
          <p:cNvSpPr>
            <a:spLocks noGrp="1"/>
          </p:cNvSpPr>
          <p:nvPr>
            <p:ph type="title"/>
          </p:nvPr>
        </p:nvSpPr>
        <p:spPr>
          <a:xfrm>
            <a:off x="609600" y="274638"/>
            <a:ext cx="10972800" cy="733068"/>
          </a:xfrm>
        </p:spPr>
        <p:txBody>
          <a:bodyPr/>
          <a:lstStyle/>
          <a:p>
            <a:pPr algn="ctr"/>
            <a:r>
              <a:rPr lang="en-IN" dirty="0"/>
              <a:t>INTRODUCTION</a:t>
            </a:r>
          </a:p>
        </p:txBody>
      </p:sp>
      <p:sp>
        <p:nvSpPr>
          <p:cNvPr id="4" name="Rectangle 1">
            <a:extLst>
              <a:ext uri="{FF2B5EF4-FFF2-40B4-BE49-F238E27FC236}">
                <a16:creationId xmlns:a16="http://schemas.microsoft.com/office/drawing/2014/main" id="{5BF323FD-D150-1ED7-2392-00CCF8241D00}"/>
              </a:ext>
            </a:extLst>
          </p:cNvPr>
          <p:cNvSpPr>
            <a:spLocks noChangeArrowheads="1"/>
          </p:cNvSpPr>
          <p:nvPr/>
        </p:nvSpPr>
        <p:spPr bwMode="auto">
          <a:xfrm>
            <a:off x="287866" y="-1886467"/>
            <a:ext cx="1210733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14385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br>
              <a:rPr lang="en-US" b="1" dirty="0"/>
            </a:br>
            <a:r>
              <a:rPr lang="en-US" sz="4900" b="1" dirty="0">
                <a:latin typeface="Times New Roman" panose="02020603050405020304" pitchFamily="18" charset="0"/>
                <a:cs typeface="Times New Roman" panose="02020603050405020304" pitchFamily="18" charset="0"/>
              </a:rPr>
              <a:t>EXISTING SYSTEM</a:t>
            </a:r>
            <a:br>
              <a:rPr lang="en-IN" sz="4000" dirty="0">
                <a:latin typeface="Times New Roman" panose="02020603050405020304" pitchFamily="18" charset="0"/>
                <a:cs typeface="Times New Roman" panose="02020603050405020304" pitchFamily="18" charset="0"/>
              </a:rPr>
            </a:br>
            <a:endParaRPr lang="en-IN" sz="4000" dirty="0">
              <a:latin typeface="Times New Roman" panose="02020603050405020304" pitchFamily="18"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3C5CC864-16FE-B066-A9C3-3B4BAA7E02BE}"/>
              </a:ext>
            </a:extLst>
          </p:cNvPr>
          <p:cNvSpPr>
            <a:spLocks noGrp="1"/>
          </p:cNvSpPr>
          <p:nvPr>
            <p:ph idx="1"/>
          </p:nvPr>
        </p:nvSpPr>
        <p:spPr>
          <a:xfrm>
            <a:off x="609600" y="1481138"/>
            <a:ext cx="10972800" cy="4525962"/>
          </a:xfrm>
        </p:spPr>
        <p:txBody>
          <a:bodyPr>
            <a:noAutofit/>
          </a:bodyPr>
          <a:lstStyle/>
          <a:p>
            <a:pPr algn="just">
              <a:lnSpc>
                <a:spcPct val="170000"/>
              </a:lnSpc>
            </a:pPr>
            <a:r>
              <a:rPr lang="en-US" sz="2000" dirty="0">
                <a:latin typeface="Times New Roman" panose="02020603050405020304" pitchFamily="18" charset="0"/>
                <a:cs typeface="Times New Roman" panose="02020603050405020304" pitchFamily="18" charset="0"/>
              </a:rPr>
              <a:t>Current cloud-based intrusion detection systems mostly rely on traditional security tools such as firewalls, signature-based IDS, and machine-learning models that use many features for detection. </a:t>
            </a:r>
          </a:p>
          <a:p>
            <a:pPr algn="just">
              <a:lnSpc>
                <a:spcPct val="170000"/>
              </a:lnSpc>
            </a:pPr>
            <a:r>
              <a:rPr lang="en-US" sz="2000" dirty="0">
                <a:latin typeface="Times New Roman" panose="02020603050405020304" pitchFamily="18" charset="0"/>
                <a:cs typeface="Times New Roman" panose="02020603050405020304" pitchFamily="18" charset="0"/>
              </a:rPr>
              <a:t>These systems struggle with large amounts of cloud traffic, difficulty detecting unknown attacks, and slow real-time processing. </a:t>
            </a:r>
          </a:p>
          <a:p>
            <a:pPr algn="just">
              <a:lnSpc>
                <a:spcPct val="170000"/>
              </a:lnSpc>
            </a:pPr>
            <a:r>
              <a:rPr lang="en-US" sz="2000" dirty="0">
                <a:latin typeface="Times New Roman" panose="02020603050405020304" pitchFamily="18" charset="0"/>
                <a:cs typeface="Times New Roman" panose="02020603050405020304" pitchFamily="18" charset="0"/>
              </a:rPr>
              <a:t>Many existing IDS models use deep learning or multiple classifiers, but they often require high computational power and still suffer from problems like overfitting, high false alarms, and long execution time due to large feature sets. </a:t>
            </a:r>
          </a:p>
        </p:txBody>
      </p:sp>
    </p:spTree>
    <p:extLst>
      <p:ext uri="{BB962C8B-B14F-4D97-AF65-F5344CB8AC3E}">
        <p14:creationId xmlns:p14="http://schemas.microsoft.com/office/powerpoint/2010/main" val="1054567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br>
              <a:rPr lang="en-US" b="1" dirty="0"/>
            </a:br>
            <a:r>
              <a:rPr lang="en-US" sz="4900" b="1" dirty="0">
                <a:latin typeface="Times New Roman" panose="02020603050405020304" pitchFamily="18" charset="0"/>
                <a:cs typeface="Times New Roman" panose="02020603050405020304" pitchFamily="18" charset="0"/>
              </a:rPr>
              <a:t>PROPOSED SYSTEM</a:t>
            </a:r>
            <a:br>
              <a:rPr lang="en-IN" sz="4000" dirty="0">
                <a:latin typeface="Times New Roman" panose="02020603050405020304" pitchFamily="18" charset="0"/>
                <a:cs typeface="Times New Roman" panose="02020603050405020304" pitchFamily="18" charset="0"/>
              </a:rPr>
            </a:br>
            <a:endParaRPr lang="en-IN" sz="4000" dirty="0">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8169BE70-477C-72F1-49AD-41E4F95A3C97}"/>
              </a:ext>
            </a:extLst>
          </p:cNvPr>
          <p:cNvSpPr>
            <a:spLocks noGrp="1"/>
          </p:cNvSpPr>
          <p:nvPr>
            <p:ph idx="1"/>
          </p:nvPr>
        </p:nvSpPr>
        <p:spPr>
          <a:xfrm>
            <a:off x="609600" y="1481138"/>
            <a:ext cx="10972800" cy="4525962"/>
          </a:xfrm>
        </p:spPr>
        <p:txBody>
          <a:bodyPr>
            <a:noAutofit/>
          </a:bodyPr>
          <a:lstStyle/>
          <a:p>
            <a:pPr algn="just">
              <a:lnSpc>
                <a:spcPct val="150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The proposed system presents a cloud-based intrusion detection model that uses feature engineering combined with a Random Forest (RF) classifier to identify attacks more effectively. </a:t>
            </a:r>
          </a:p>
          <a:p>
            <a:pPr algn="just">
              <a:lnSpc>
                <a:spcPct val="150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The system first performs pre-processing and reduces the number of features through graphical visualization, selecting only the most important ones for intrusion detection. </a:t>
            </a:r>
          </a:p>
          <a:p>
            <a:pPr algn="just">
              <a:lnSpc>
                <a:spcPct val="150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By using a minimal set of optimized features, the system becomes faster, more efficient, and more reliable than traditional IDS models, offering improved detection performance while lowering the computational cost.</a:t>
            </a:r>
            <a:endParaRPr lang="en-IN"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007570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400" b="1" dirty="0">
                <a:latin typeface="Times New Roman" panose="02020603050405020304" pitchFamily="18" charset="0"/>
                <a:cs typeface="Times New Roman" panose="02020603050405020304" pitchFamily="18" charset="0"/>
              </a:rPr>
              <a:t>ADVANTAGES</a:t>
            </a:r>
            <a:endParaRPr lang="en-IN" sz="4400" dirty="0">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CD8B3646-2E70-68F2-D2EF-9FA8D5627BBF}"/>
              </a:ext>
            </a:extLst>
          </p:cNvPr>
          <p:cNvSpPr>
            <a:spLocks noGrp="1"/>
          </p:cNvSpPr>
          <p:nvPr>
            <p:ph idx="1"/>
          </p:nvPr>
        </p:nvSpPr>
        <p:spPr>
          <a:xfrm>
            <a:off x="609600" y="1481138"/>
            <a:ext cx="10972800" cy="4525962"/>
          </a:xfrm>
        </p:spPr>
        <p:txBody>
          <a:bodyPr>
            <a:normAutofit/>
          </a:bodyPr>
          <a:lstStyle/>
          <a:p>
            <a:pPr lvl="0" algn="just">
              <a:lnSpc>
                <a:spcPct val="150000"/>
              </a:lnSpc>
            </a:pPr>
            <a:r>
              <a:rPr lang="en-US" sz="2000" dirty="0">
                <a:latin typeface="Times New Roman" panose="02020603050405020304" pitchFamily="18" charset="0"/>
                <a:cs typeface="Times New Roman" panose="02020603050405020304" pitchFamily="18" charset="0"/>
              </a:rPr>
              <a:t>The proposed system efficiently analyzes cloud traffic using optimized features and machine learning techniques. It reduces unnecessary processing and improves decision accuracy. This makes intrusion detection more reliable in dynamic cloud environments.</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US" sz="2000" dirty="0">
                <a:latin typeface="Times New Roman" panose="02020603050405020304" pitchFamily="18" charset="0"/>
                <a:cs typeface="Times New Roman" panose="02020603050405020304" pitchFamily="18" charset="0"/>
              </a:rPr>
              <a:t>Random Forest uses multiple decision trees and combines their results for final prediction. This ensemble approach prevents the model from depending on a single pattern. As a result, it generalizes better and reduces overfitting.</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US" sz="2000" dirty="0">
                <a:latin typeface="Times New Roman" panose="02020603050405020304" pitchFamily="18" charset="0"/>
                <a:cs typeface="Times New Roman" panose="02020603050405020304" pitchFamily="18" charset="0"/>
              </a:rPr>
              <a:t>Feature selection reduces the number of irrelevant attributes before classification. This lowers processing time and memory usage. Hence, the system achieves faster intrusion detection with minimal computational cost.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09327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400" b="1" dirty="0">
                <a:latin typeface="Times New Roman" panose="02020603050405020304" pitchFamily="18" charset="0"/>
                <a:cs typeface="Times New Roman" panose="02020603050405020304" pitchFamily="18" charset="0"/>
              </a:rPr>
              <a:t>DISADVANTAGES</a:t>
            </a:r>
            <a:endParaRPr lang="en-IN" sz="4400" dirty="0">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459DA178-654B-0D6E-A3DA-40EF8CD387A3}"/>
              </a:ext>
            </a:extLst>
          </p:cNvPr>
          <p:cNvSpPr>
            <a:spLocks noGrp="1"/>
          </p:cNvSpPr>
          <p:nvPr>
            <p:ph idx="1"/>
          </p:nvPr>
        </p:nvSpPr>
        <p:spPr>
          <a:xfrm>
            <a:off x="609600" y="1481138"/>
            <a:ext cx="10972800" cy="4525962"/>
          </a:xfrm>
        </p:spPr>
        <p:txBody>
          <a:bodyPr>
            <a:normAutofit/>
          </a:bodyPr>
          <a:lstStyle/>
          <a:p>
            <a:pPr lvl="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Existing IDS models use a large number of features, which increases computational complexity. High-dimensional data requires more processing power and memory, leading to longer training and detection times. This makes the system inefficient for large-scale cloud environments.</a:t>
            </a:r>
          </a:p>
          <a:p>
            <a:pPr lvl="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Cloud environments generate massive and continuous network traffic that is difficult to process instantly. Complex models cause delays in analysis and response time. This reduces the effectiveness of IDS in detecting fast attacks like DDoS.</a:t>
            </a:r>
          </a:p>
          <a:p>
            <a:pPr lvl="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Traditional IDS depend on known attack patterns and fail to detect new or zero-day attacks. Machine learning models may overfit to training data and generalize poorly. This results in higher false positives and false negatives.</a:t>
            </a:r>
            <a:endParaRPr lang="en-IN" sz="2000" dirty="0">
              <a:latin typeface="Times New Roman" panose="02020603050405020304" pitchFamily="18" charset="0"/>
              <a:cs typeface="Times New Roman" panose="02020603050405020304" pitchFamily="18" charset="0"/>
            </a:endParaRPr>
          </a:p>
          <a:p>
            <a:pPr marL="0" indent="0" algn="just">
              <a:lnSpc>
                <a:spcPct val="150000"/>
              </a:lnSpc>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807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38BEE67-908B-0F48-2DEB-4AF00B501AF3}"/>
              </a:ext>
            </a:extLst>
          </p:cNvPr>
          <p:cNvSpPr>
            <a:spLocks noGrp="1"/>
          </p:cNvSpPr>
          <p:nvPr>
            <p:ph idx="1"/>
          </p:nvPr>
        </p:nvSpPr>
        <p:spPr>
          <a:xfrm>
            <a:off x="0" y="1499990"/>
            <a:ext cx="6096000" cy="4525963"/>
          </a:xfrm>
        </p:spPr>
        <p:txBody>
          <a:bodyPr/>
          <a:lstStyle/>
          <a:p>
            <a:pPr marL="0" indent="0">
              <a:lnSpc>
                <a:spcPct val="150000"/>
              </a:lnSpc>
              <a:buNone/>
            </a:pPr>
            <a:r>
              <a:rPr lang="en-US" sz="3000" b="1" dirty="0">
                <a:latin typeface="Times New Roman" panose="02020603050405020304" pitchFamily="18" charset="0"/>
                <a:cs typeface="Times New Roman" panose="02020603050405020304" pitchFamily="18" charset="0"/>
              </a:rPr>
              <a:t>MINIMUM HARDWARE REQUIREMENTS:</a:t>
            </a:r>
            <a:r>
              <a:rPr lang="en-US" sz="3200" b="1" dirty="0">
                <a:latin typeface="Times New Roman" panose="02020603050405020304" pitchFamily="18" charset="0"/>
                <a:cs typeface="Times New Roman" panose="02020603050405020304" pitchFamily="18" charset="0"/>
              </a:rPr>
              <a:t> </a:t>
            </a:r>
          </a:p>
          <a:p>
            <a:pPr marL="0" indent="0" algn="just">
              <a:lnSpc>
                <a:spcPct val="150000"/>
              </a:lnSpc>
              <a:buNone/>
            </a:pPr>
            <a:r>
              <a:rPr lang="en-US" sz="2800" dirty="0">
                <a:latin typeface="Times New Roman" panose="02020603050405020304" pitchFamily="18" charset="0"/>
                <a:cs typeface="Times New Roman" panose="02020603050405020304" pitchFamily="18" charset="0"/>
              </a:rPr>
              <a:t>➢Processor         -   Pentium  / Intel core</a:t>
            </a:r>
            <a:endParaRPr lang="en-IN" sz="2800" b="1" dirty="0">
              <a:latin typeface="Times New Roman" panose="02020603050405020304" pitchFamily="18" charset="0"/>
              <a:cs typeface="Times New Roman" panose="02020603050405020304" pitchFamily="18" charset="0"/>
            </a:endParaRPr>
          </a:p>
          <a:p>
            <a:pPr marL="0" indent="0" algn="just">
              <a:lnSpc>
                <a:spcPct val="150000"/>
              </a:lnSpc>
              <a:buNone/>
            </a:pPr>
            <a:r>
              <a:rPr lang="en-US" sz="2800" dirty="0">
                <a:latin typeface="Times New Roman" panose="02020603050405020304" pitchFamily="18" charset="0"/>
                <a:cs typeface="Times New Roman" panose="02020603050405020304" pitchFamily="18" charset="0"/>
              </a:rPr>
              <a:t>➢RAM                -   8 GB (min)</a:t>
            </a:r>
            <a:endParaRPr lang="en-IN" sz="2800" b="1" dirty="0">
              <a:latin typeface="Times New Roman" panose="02020603050405020304" pitchFamily="18" charset="0"/>
              <a:cs typeface="Times New Roman" panose="02020603050405020304" pitchFamily="18" charset="0"/>
            </a:endParaRPr>
          </a:p>
          <a:p>
            <a:pPr marL="0" indent="0" algn="just">
              <a:lnSpc>
                <a:spcPct val="150000"/>
              </a:lnSpc>
              <a:buNone/>
            </a:pPr>
            <a:r>
              <a:rPr lang="en-US" sz="2800" dirty="0">
                <a:latin typeface="Times New Roman" panose="02020603050405020304" pitchFamily="18" charset="0"/>
                <a:cs typeface="Times New Roman" panose="02020603050405020304" pitchFamily="18" charset="0"/>
              </a:rPr>
              <a:t>➢Hard Disk         -   250 GB (Min.)</a:t>
            </a:r>
            <a:endParaRPr lang="en-IN" sz="2800" b="1" dirty="0">
              <a:latin typeface="Times New Roman" panose="02020603050405020304" pitchFamily="18" charset="0"/>
              <a:cs typeface="Times New Roman" panose="02020603050405020304" pitchFamily="18" charset="0"/>
            </a:endParaRPr>
          </a:p>
          <a:p>
            <a:pPr marL="109728" indent="0">
              <a:buNone/>
            </a:pPr>
            <a:endParaRPr lang="en-IN" sz="3200" b="1" dirty="0">
              <a:latin typeface="Times New Roman" panose="02020603050405020304" pitchFamily="18" charset="0"/>
              <a:cs typeface="Times New Roman" panose="02020603050405020304" pitchFamily="18" charset="0"/>
            </a:endParaRPr>
          </a:p>
          <a:p>
            <a:endParaRPr lang="en-IN" sz="2800" b="1" dirty="0">
              <a:latin typeface="Times New Roman" panose="02020603050405020304" pitchFamily="18" charset="0"/>
              <a:cs typeface="Times New Roman" panose="02020603050405020304" pitchFamily="18" charset="0"/>
            </a:endParaRPr>
          </a:p>
          <a:p>
            <a:endParaRPr lang="en-IN" dirty="0"/>
          </a:p>
        </p:txBody>
      </p:sp>
      <p:sp>
        <p:nvSpPr>
          <p:cNvPr id="3" name="Title 2">
            <a:extLst>
              <a:ext uri="{FF2B5EF4-FFF2-40B4-BE49-F238E27FC236}">
                <a16:creationId xmlns:a16="http://schemas.microsoft.com/office/drawing/2014/main" id="{6FCC202E-8D23-77EC-3B19-2183537871E2}"/>
              </a:ext>
            </a:extLst>
          </p:cNvPr>
          <p:cNvSpPr>
            <a:spLocks noGrp="1"/>
          </p:cNvSpPr>
          <p:nvPr>
            <p:ph type="title"/>
          </p:nvPr>
        </p:nvSpPr>
        <p:spPr/>
        <p:txBody>
          <a:bodyPr/>
          <a:lstStyle/>
          <a:p>
            <a:pPr algn="ctr"/>
            <a:r>
              <a:rPr lang="en-US" sz="4400" dirty="0">
                <a:latin typeface="Times New Roman" panose="02020603050405020304" pitchFamily="18" charset="0"/>
                <a:cs typeface="Times New Roman" panose="02020603050405020304" pitchFamily="18" charset="0"/>
              </a:rPr>
              <a:t>SYSTEM REQUIREMENTS</a:t>
            </a:r>
            <a:endParaRPr lang="en-IN" dirty="0"/>
          </a:p>
        </p:txBody>
      </p:sp>
      <p:sp>
        <p:nvSpPr>
          <p:cNvPr id="5" name="TextBox 4">
            <a:extLst>
              <a:ext uri="{FF2B5EF4-FFF2-40B4-BE49-F238E27FC236}">
                <a16:creationId xmlns:a16="http://schemas.microsoft.com/office/drawing/2014/main" id="{9C0A02FE-0721-B25E-C453-75444FA16EBF}"/>
              </a:ext>
            </a:extLst>
          </p:cNvPr>
          <p:cNvSpPr txBox="1"/>
          <p:nvPr/>
        </p:nvSpPr>
        <p:spPr>
          <a:xfrm>
            <a:off x="6008914" y="1672521"/>
            <a:ext cx="6183086" cy="4708981"/>
          </a:xfrm>
          <a:prstGeom prst="rect">
            <a:avLst/>
          </a:prstGeom>
          <a:noFill/>
        </p:spPr>
        <p:txBody>
          <a:bodyPr wrap="square">
            <a:spAutoFit/>
          </a:bodyPr>
          <a:lstStyle/>
          <a:p>
            <a:r>
              <a:rPr lang="en-US" sz="3000" b="1" dirty="0">
                <a:latin typeface="Times New Roman" panose="02020603050405020304" pitchFamily="18" charset="0"/>
                <a:cs typeface="Times New Roman" panose="02020603050405020304" pitchFamily="18" charset="0"/>
              </a:rPr>
              <a:t>SOFTWARE REQUIREMENS:</a:t>
            </a:r>
          </a:p>
          <a:p>
            <a:pPr marL="457200" indent="-457200" algn="just">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Operating system :   Windows</a:t>
            </a:r>
            <a:endParaRPr lang="en-IN" sz="2800" dirty="0">
              <a:latin typeface="Times New Roman" panose="02020603050405020304" pitchFamily="18" charset="0"/>
              <a:cs typeface="Times New Roman" panose="02020603050405020304" pitchFamily="18" charset="0"/>
            </a:endParaRPr>
          </a:p>
          <a:p>
            <a:pPr marL="457200" indent="-457200" algn="just">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Coding Language:   Python. (Django)</a:t>
            </a:r>
            <a:endParaRPr lang="en-IN" sz="2800" dirty="0">
              <a:latin typeface="Times New Roman" panose="02020603050405020304" pitchFamily="18" charset="0"/>
              <a:cs typeface="Times New Roman" panose="02020603050405020304" pitchFamily="18" charset="0"/>
            </a:endParaRPr>
          </a:p>
          <a:p>
            <a:pPr marL="457200" indent="-457200" algn="just">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Front-End	   : React</a:t>
            </a:r>
            <a:endParaRPr lang="en-IN" sz="2800" dirty="0">
              <a:latin typeface="Times New Roman" panose="02020603050405020304" pitchFamily="18" charset="0"/>
              <a:cs typeface="Times New Roman" panose="02020603050405020304" pitchFamily="18" charset="0"/>
            </a:endParaRPr>
          </a:p>
          <a:p>
            <a:pPr marL="457200" indent="-457200" algn="just">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Data Base	   : MySQL</a:t>
            </a:r>
          </a:p>
          <a:p>
            <a:pPr algn="just">
              <a:lnSpc>
                <a:spcPct val="150000"/>
              </a:lnSpc>
            </a:pPr>
            <a:r>
              <a:rPr lang="en-US" sz="2800" dirty="0">
                <a:latin typeface="Times New Roman" panose="02020603050405020304" pitchFamily="18" charset="0"/>
                <a:cs typeface="Times New Roman" panose="02020603050405020304" pitchFamily="18" charset="0"/>
              </a:rPr>
              <a:t>                                 (WAMP Server).</a:t>
            </a:r>
            <a:endParaRPr lang="en-IN" sz="2800" dirty="0">
              <a:latin typeface="Times New Roman" panose="02020603050405020304" pitchFamily="18" charset="0"/>
              <a:cs typeface="Times New Roman" panose="02020603050405020304" pitchFamily="18" charset="0"/>
            </a:endParaRPr>
          </a:p>
          <a:p>
            <a:endParaRPr lang="en-US" sz="3000" b="1" dirty="0">
              <a:latin typeface="Times New Roman" panose="02020603050405020304" pitchFamily="18" charset="0"/>
              <a:cs typeface="Times New Roman" panose="02020603050405020304" pitchFamily="18" charset="0"/>
            </a:endParaRPr>
          </a:p>
          <a:p>
            <a:endParaRPr lang="en-IN" sz="3000" dirty="0"/>
          </a:p>
        </p:txBody>
      </p:sp>
    </p:spTree>
    <p:extLst>
      <p:ext uri="{BB962C8B-B14F-4D97-AF65-F5344CB8AC3E}">
        <p14:creationId xmlns:p14="http://schemas.microsoft.com/office/powerpoint/2010/main" val="29365769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818</TotalTime>
  <Words>858</Words>
  <Application>Microsoft Office PowerPoint</Application>
  <PresentationFormat>Widescreen</PresentationFormat>
  <Paragraphs>67</Paragraphs>
  <Slides>11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Arial</vt:lpstr>
      <vt:lpstr>Calibri</vt:lpstr>
      <vt:lpstr>Lucida Sans Unicode</vt:lpstr>
      <vt:lpstr>Times New Roman</vt:lpstr>
      <vt:lpstr>Verdana</vt:lpstr>
      <vt:lpstr>Wingdings</vt:lpstr>
      <vt:lpstr>Wingdings 2</vt:lpstr>
      <vt:lpstr>Wingdings 3</vt:lpstr>
      <vt:lpstr>Concourse</vt:lpstr>
      <vt:lpstr>PowerPoint Presentation</vt:lpstr>
      <vt:lpstr>MACHINE LEARNING BASED INTRUSION DETECTION SYSTEM IN CLOUD ENVIRONMENT</vt:lpstr>
      <vt:lpstr> ABSTRACT </vt:lpstr>
      <vt:lpstr>PowerPoint Presentation</vt:lpstr>
      <vt:lpstr>OBJECTIVE</vt:lpstr>
      <vt:lpstr>INTRODUCTION</vt:lpstr>
      <vt:lpstr> EXISTING SYSTEM </vt:lpstr>
      <vt:lpstr> PROPOSED SYSTEM </vt:lpstr>
      <vt:lpstr>ADVANTAGES</vt:lpstr>
      <vt:lpstr>DISADVANTAGES</vt:lpstr>
      <vt:lpstr>SYSTEM REQUIREMENTS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Blood Pressure Identification Using Machine Learning</dc:title>
  <dc:creator>ADMIN</dc:creator>
  <cp:lastModifiedBy>Santhosh Pallapu</cp:lastModifiedBy>
  <cp:revision>27</cp:revision>
  <dcterms:created xsi:type="dcterms:W3CDTF">2025-03-04T11:21:13Z</dcterms:created>
  <dcterms:modified xsi:type="dcterms:W3CDTF">2026-02-03T05:59:06Z</dcterms:modified>
</cp:coreProperties>
</file>