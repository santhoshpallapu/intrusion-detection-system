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2" r:id="rId6"/>
    <p:sldId id="269" r:id="rId7"/>
    <p:sldId id="263" r:id="rId8"/>
    <p:sldId id="264" r:id="rId9"/>
    <p:sldId id="265" r:id="rId10"/>
    <p:sldId id="266" r:id="rId11"/>
    <p:sldId id="268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26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27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A8B9-B4C1-F486-80E5-7071144A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D6AEA-B7D4-56DC-319D-7E6CBF11F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04092-1F3C-0270-9259-67C9B6785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54C36-8F23-3B1D-AD93-5E579819D3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5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963" y="285750"/>
            <a:ext cx="6696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65"/>
              </a:lnSpc>
              <a:buNone/>
            </a:pPr>
            <a:r>
              <a:rPr lang="en-US" sz="2138" b="1" kern="0" spc="-9" dirty="0">
                <a:solidFill>
                  <a:srgbClr val="1A1A1A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PBR VISVODAYA INSTITUTE OF TECHNOLOGY AND SCIENCE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281363" y="2247900"/>
            <a:ext cx="25765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710" b="1" dirty="0">
                <a:solidFill>
                  <a:srgbClr val="1A1A1A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DEPARTMENT OF AIML</a:t>
            </a:r>
            <a:endParaRPr lang="en-US" sz="171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5750" y="1143000"/>
            <a:ext cx="952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6250" y="4191000"/>
            <a:ext cx="1785938" cy="5238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76250" y="4191000"/>
            <a:ext cx="17859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kern="0" spc="-9" dirty="0">
                <a:solidFill>
                  <a:srgbClr val="1A1A1A">
                    <a:alpha val="99000"/>
                  </a:srgbClr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Project Guide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476250" y="4486275"/>
            <a:ext cx="1785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425" b="1" kern="0" spc="-9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Dr. M. Praveen Kumar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6858000" y="3324225"/>
            <a:ext cx="1809750" cy="13906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0" y="3324225"/>
            <a:ext cx="1119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333333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Batch No: 2239C4</a:t>
            </a:r>
            <a:endParaRPr lang="en-US" sz="1069" dirty="0"/>
          </a:p>
        </p:txBody>
      </p:sp>
      <p:sp>
        <p:nvSpPr>
          <p:cNvPr id="10" name="Shape 7"/>
          <p:cNvSpPr/>
          <p:nvPr/>
        </p:nvSpPr>
        <p:spPr>
          <a:xfrm>
            <a:off x="6858000" y="3648075"/>
            <a:ext cx="180975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858000" y="3648075"/>
            <a:ext cx="1809750" cy="1809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858000" y="3648075"/>
            <a:ext cx="7572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000000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P. Santhosh 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7886700" y="3648075"/>
            <a:ext cx="781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4D4D4D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2273A39127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6858000" y="3943350"/>
            <a:ext cx="1809750" cy="1809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0" y="3943350"/>
            <a:ext cx="671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000000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D. Ganesh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7839075" y="3943350"/>
            <a:ext cx="828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4D4D4D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2273A39079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6858000" y="4238625"/>
            <a:ext cx="1809750" cy="1809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858000" y="4238625"/>
            <a:ext cx="809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000000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N. Jaswanth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7829550" y="4238625"/>
            <a:ext cx="838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4D4D4D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2273A39099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6858000" y="4533900"/>
            <a:ext cx="1809750" cy="1809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858000" y="4533900"/>
            <a:ext cx="6762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000000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V. Naveen</a:t>
            </a:r>
            <a:endParaRPr lang="en-US" sz="1140" dirty="0"/>
          </a:p>
        </p:txBody>
      </p:sp>
      <p:sp>
        <p:nvSpPr>
          <p:cNvPr id="22" name="Text 19"/>
          <p:cNvSpPr/>
          <p:nvPr/>
        </p:nvSpPr>
        <p:spPr>
          <a:xfrm>
            <a:off x="7886700" y="4533900"/>
            <a:ext cx="781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kern="0" spc="-9" dirty="0">
                <a:solidFill>
                  <a:srgbClr val="4D4D4D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2273A39L01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3525" y="1852612"/>
            <a:ext cx="6081713" cy="144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591"/>
              </a:lnSpc>
              <a:buNone/>
            </a:pPr>
            <a:r>
              <a:rPr lang="en-US" sz="2992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MACHINE LEARNING BASED INTRUSION DETECTION SYSTEM </a:t>
            </a:r>
            <a:r>
              <a:rPr lang="en-US" sz="2992" b="1" dirty="0">
                <a:solidFill>
                  <a:srgbClr val="4D4D4D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IN CLOUD ENVIRONMENT</a:t>
            </a:r>
            <a:endParaRPr lang="en-US" sz="2992" dirty="0"/>
          </a:p>
        </p:txBody>
      </p:sp>
      <p:sp>
        <p:nvSpPr>
          <p:cNvPr id="3" name="Text 1"/>
          <p:cNvSpPr/>
          <p:nvPr/>
        </p:nvSpPr>
        <p:spPr>
          <a:xfrm>
            <a:off x="3967163" y="1519238"/>
            <a:ext cx="1209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83"/>
              </a:lnSpc>
              <a:buNone/>
            </a:pPr>
            <a:r>
              <a:rPr lang="en-US" sz="1069" kern="0" spc="71" dirty="0">
                <a:solidFill>
                  <a:srgbClr val="FF4D0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PROJECT TITLE</a:t>
            </a:r>
            <a:endParaRPr lang="en-US" sz="1069" dirty="0"/>
          </a:p>
        </p:txBody>
      </p:sp>
      <p:sp>
        <p:nvSpPr>
          <p:cNvPr id="4" name="Text 2"/>
          <p:cNvSpPr/>
          <p:nvPr/>
        </p:nvSpPr>
        <p:spPr>
          <a:xfrm>
            <a:off x="8110537" y="4529138"/>
            <a:ext cx="576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6687" y="285750"/>
            <a:ext cx="11953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4"/>
              </a:lnSpc>
              <a:buNone/>
            </a:pPr>
            <a:r>
              <a:rPr lang="en-US" sz="2244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Contents</a:t>
            </a:r>
            <a:endParaRPr lang="en-US" sz="2244" dirty="0"/>
          </a:p>
        </p:txBody>
      </p:sp>
      <p:sp>
        <p:nvSpPr>
          <p:cNvPr id="3" name="Shape 1"/>
          <p:cNvSpPr/>
          <p:nvPr/>
        </p:nvSpPr>
        <p:spPr>
          <a:xfrm>
            <a:off x="476250" y="857250"/>
            <a:ext cx="8191500" cy="336514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6250" y="857250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857250"/>
            <a:ext cx="134884" cy="287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5434" y="857250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Abstract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476250" y="1296943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296943"/>
            <a:ext cx="134884" cy="287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34" y="1296943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Objectives</a:t>
            </a:r>
            <a:endParaRPr lang="en-US" sz="1425" dirty="0"/>
          </a:p>
        </p:txBody>
      </p:sp>
      <p:sp>
        <p:nvSpPr>
          <p:cNvPr id="10" name="Shape 6"/>
          <p:cNvSpPr/>
          <p:nvPr/>
        </p:nvSpPr>
        <p:spPr>
          <a:xfrm>
            <a:off x="476250" y="1736636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736636"/>
            <a:ext cx="134884" cy="287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434" y="1736636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Introduction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476250" y="2176328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176328"/>
            <a:ext cx="134884" cy="287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434" y="2176328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System</a:t>
            </a:r>
            <a:endParaRPr lang="en-US" sz="1425" dirty="0"/>
          </a:p>
        </p:txBody>
      </p:sp>
      <p:sp>
        <p:nvSpPr>
          <p:cNvPr id="16" name="Shape 10"/>
          <p:cNvSpPr/>
          <p:nvPr/>
        </p:nvSpPr>
        <p:spPr>
          <a:xfrm>
            <a:off x="476250" y="2616022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616022"/>
            <a:ext cx="134884" cy="28729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5434" y="2616022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System Drawbacks</a:t>
            </a:r>
            <a:endParaRPr lang="en-US" sz="1425" dirty="0"/>
          </a:p>
        </p:txBody>
      </p:sp>
      <p:sp>
        <p:nvSpPr>
          <p:cNvPr id="19" name="Shape 12"/>
          <p:cNvSpPr/>
          <p:nvPr/>
        </p:nvSpPr>
        <p:spPr>
          <a:xfrm>
            <a:off x="476250" y="3055713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250" y="3055713"/>
            <a:ext cx="134884" cy="28729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25434" y="3055713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Proposed System</a:t>
            </a:r>
            <a:endParaRPr lang="en-US" sz="1425" dirty="0"/>
          </a:p>
        </p:txBody>
      </p:sp>
      <p:sp>
        <p:nvSpPr>
          <p:cNvPr id="22" name="Shape 14"/>
          <p:cNvSpPr/>
          <p:nvPr/>
        </p:nvSpPr>
        <p:spPr>
          <a:xfrm>
            <a:off x="476250" y="3495405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495405"/>
            <a:ext cx="134884" cy="28729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25434" y="3495405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Merits of Proposed System</a:t>
            </a:r>
            <a:endParaRPr lang="en-US" sz="1425" dirty="0"/>
          </a:p>
        </p:txBody>
      </p:sp>
      <p:sp>
        <p:nvSpPr>
          <p:cNvPr id="25" name="Shape 16"/>
          <p:cNvSpPr/>
          <p:nvPr/>
        </p:nvSpPr>
        <p:spPr>
          <a:xfrm>
            <a:off x="476250" y="3935099"/>
            <a:ext cx="8191500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935099"/>
            <a:ext cx="134884" cy="28729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25434" y="3935099"/>
            <a:ext cx="7942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Requirements</a:t>
            </a:r>
            <a:endParaRPr lang="en-US" sz="1425" dirty="0"/>
          </a:p>
        </p:txBody>
      </p:sp>
      <p:sp>
        <p:nvSpPr>
          <p:cNvPr id="28" name="Text 18"/>
          <p:cNvSpPr/>
          <p:nvPr/>
        </p:nvSpPr>
        <p:spPr>
          <a:xfrm>
            <a:off x="8067675" y="4529138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2387" y="285750"/>
            <a:ext cx="14239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4"/>
              </a:lnSpc>
              <a:buNone/>
            </a:pPr>
            <a:r>
              <a:rPr lang="en-US" sz="2244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Objective</a:t>
            </a:r>
            <a:endParaRPr lang="en-US" sz="2244" dirty="0"/>
          </a:p>
        </p:txBody>
      </p:sp>
      <p:sp>
        <p:nvSpPr>
          <p:cNvPr id="3" name="Shape 1"/>
          <p:cNvSpPr/>
          <p:nvPr/>
        </p:nvSpPr>
        <p:spPr>
          <a:xfrm>
            <a:off x="476250" y="1085850"/>
            <a:ext cx="8191500" cy="2514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6250" y="1085850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085850"/>
            <a:ext cx="134884" cy="287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5434" y="1085850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identify the limitations of existing cloud-based intrusion detection systems that use large feature sets and high computational resources.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476250" y="1771650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771650"/>
            <a:ext cx="134884" cy="287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34" y="1771650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design a cloud-based intrusion detection system using feature engineering to select only the most relevant features.</a:t>
            </a:r>
            <a:endParaRPr lang="en-US" sz="1425" dirty="0"/>
          </a:p>
        </p:txBody>
      </p:sp>
      <p:sp>
        <p:nvSpPr>
          <p:cNvPr id="10" name="Shape 6"/>
          <p:cNvSpPr/>
          <p:nvPr/>
        </p:nvSpPr>
        <p:spPr>
          <a:xfrm>
            <a:off x="476250" y="2457450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457450"/>
            <a:ext cx="134884" cy="287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434" y="2457450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implement a Random Forest–based intrusion detection model for distinguishing normal and abnormal network activities.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476250" y="3143250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143250"/>
            <a:ext cx="134884" cy="287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434" y="3143250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develop an efficient and reliable IDS that reduces computational overhead while handling cloud network traffic.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8043863" y="4529138"/>
            <a:ext cx="623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1926" y="285750"/>
            <a:ext cx="2489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244"/>
              </a:lnSpc>
            </a:pPr>
            <a:r>
              <a:rPr lang="en-IN" sz="2400" b="1" dirty="0"/>
              <a:t>Literature Survey</a:t>
            </a:r>
            <a:endParaRPr lang="en-US" sz="2244" b="1" dirty="0"/>
          </a:p>
        </p:txBody>
      </p:sp>
      <p:sp>
        <p:nvSpPr>
          <p:cNvPr id="3" name="Shape 1"/>
          <p:cNvSpPr/>
          <p:nvPr/>
        </p:nvSpPr>
        <p:spPr>
          <a:xfrm>
            <a:off x="476250" y="1042988"/>
            <a:ext cx="8191500" cy="2743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6250" y="1042988"/>
            <a:ext cx="8191500" cy="685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042988"/>
            <a:ext cx="134884" cy="287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5434" y="900113"/>
            <a:ext cx="7942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24"/>
              </a:lnSpc>
            </a:pPr>
            <a:r>
              <a:rPr lang="en-US" sz="1430" dirty="0">
                <a:latin typeface="Inter Medium"/>
              </a:rPr>
              <a:t>Several researchers applied </a:t>
            </a:r>
            <a:r>
              <a:rPr lang="en-US" sz="1430" b="1" dirty="0">
                <a:latin typeface="Inter Medium"/>
              </a:rPr>
              <a:t>machine learning techniques</a:t>
            </a:r>
            <a:r>
              <a:rPr lang="en-US" sz="1430" dirty="0">
                <a:latin typeface="Inter Medium"/>
              </a:rPr>
              <a:t> to detect network intrusions in cloud environments and classify traffic as normal or malicious.</a:t>
            </a:r>
          </a:p>
        </p:txBody>
      </p:sp>
      <p:sp>
        <p:nvSpPr>
          <p:cNvPr id="7" name="Shape 4"/>
          <p:cNvSpPr/>
          <p:nvPr/>
        </p:nvSpPr>
        <p:spPr>
          <a:xfrm>
            <a:off x="476250" y="19573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957388"/>
            <a:ext cx="134884" cy="287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34" y="18430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24"/>
              </a:lnSpc>
            </a:pPr>
            <a:r>
              <a:rPr lang="en-US" sz="1430" dirty="0">
                <a:latin typeface="Inter Medium"/>
              </a:rPr>
              <a:t>Deep learning approaches such as </a:t>
            </a:r>
            <a:r>
              <a:rPr lang="en-US" sz="1430" b="1" dirty="0">
                <a:latin typeface="Inter Medium"/>
              </a:rPr>
              <a:t>CNN, RNN, and neural networks</a:t>
            </a:r>
            <a:r>
              <a:rPr lang="en-US" sz="1430" dirty="0">
                <a:latin typeface="Inter Medium"/>
              </a:rPr>
              <a:t> have been used to improve intrusion detection accuracy and identify complex attack patterns</a:t>
            </a:r>
            <a:r>
              <a:rPr lang="en-US" sz="1600" dirty="0"/>
              <a:t>.</a:t>
            </a:r>
            <a:endParaRPr lang="en-US" sz="1425" dirty="0"/>
          </a:p>
        </p:txBody>
      </p:sp>
      <p:sp>
        <p:nvSpPr>
          <p:cNvPr id="10" name="Shape 6"/>
          <p:cNvSpPr/>
          <p:nvPr/>
        </p:nvSpPr>
        <p:spPr>
          <a:xfrm>
            <a:off x="476250" y="26431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643188"/>
            <a:ext cx="134884" cy="2872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434" y="26431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24"/>
              </a:lnSpc>
            </a:pPr>
            <a:r>
              <a:rPr lang="en-US" sz="1430" dirty="0">
                <a:latin typeface="Inter Medium"/>
              </a:rPr>
              <a:t>Optimization techniques like </a:t>
            </a:r>
            <a:r>
              <a:rPr lang="en-US" sz="1430" b="1" dirty="0">
                <a:latin typeface="Inter Medium"/>
              </a:rPr>
              <a:t>Particle Swarm Optimization and Bat Algorithm</a:t>
            </a:r>
            <a:r>
              <a:rPr lang="en-US" sz="1430" dirty="0">
                <a:latin typeface="Inter Medium"/>
              </a:rPr>
              <a:t> are used for feature selection and parameter tuning in intrusion detection systems</a:t>
            </a:r>
          </a:p>
        </p:txBody>
      </p:sp>
      <p:sp>
        <p:nvSpPr>
          <p:cNvPr id="13" name="Shape 8"/>
          <p:cNvSpPr/>
          <p:nvPr/>
        </p:nvSpPr>
        <p:spPr>
          <a:xfrm>
            <a:off x="476250" y="33289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328988"/>
            <a:ext cx="134884" cy="2872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434" y="33289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24"/>
              </a:lnSpc>
            </a:pPr>
            <a:r>
              <a:rPr lang="en-US" sz="1430" dirty="0">
                <a:latin typeface="Inter Medium"/>
              </a:rPr>
              <a:t>However, many existing IDS models still face issues such as </a:t>
            </a:r>
            <a:r>
              <a:rPr lang="en-US" sz="1430" b="1" dirty="0">
                <a:latin typeface="Inter Medium"/>
              </a:rPr>
              <a:t>high computational complexity, large feature sets, and difficulty detecting new attacks</a:t>
            </a:r>
            <a:r>
              <a:rPr lang="en-US" sz="1430" dirty="0">
                <a:latin typeface="Inter Medium"/>
              </a:rPr>
              <a:t> in cloud environments</a:t>
            </a:r>
            <a:r>
              <a:rPr lang="en-US" sz="1600" dirty="0"/>
              <a:t>.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8067675" y="4529138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2F32-B9D6-4523-0BCD-C3EA8E33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33BEE9-8BD1-3DB4-32F9-80E8225ADC85}"/>
              </a:ext>
            </a:extLst>
          </p:cNvPr>
          <p:cNvSpPr/>
          <p:nvPr/>
        </p:nvSpPr>
        <p:spPr>
          <a:xfrm>
            <a:off x="3557588" y="285750"/>
            <a:ext cx="20335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4"/>
              </a:lnSpc>
              <a:buNone/>
            </a:pPr>
            <a:r>
              <a:rPr lang="en-US" sz="2244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Existing System</a:t>
            </a:r>
            <a:endParaRPr lang="en-US" sz="2244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BA46EFC-36F7-4C1D-CF71-85E58965726E}"/>
              </a:ext>
            </a:extLst>
          </p:cNvPr>
          <p:cNvSpPr/>
          <p:nvPr/>
        </p:nvSpPr>
        <p:spPr>
          <a:xfrm>
            <a:off x="476250" y="1042988"/>
            <a:ext cx="8191500" cy="2743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9E912A-2761-89CC-93C2-88AF61FA38D0}"/>
              </a:ext>
            </a:extLst>
          </p:cNvPr>
          <p:cNvSpPr/>
          <p:nvPr/>
        </p:nvSpPr>
        <p:spPr>
          <a:xfrm>
            <a:off x="476250" y="1042988"/>
            <a:ext cx="8191500" cy="685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9F0F5CA-AD39-D4AC-A271-0F328EF9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042988"/>
            <a:ext cx="134884" cy="28729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3BC035D-1AF1-DA5B-C841-4D7656474777}"/>
              </a:ext>
            </a:extLst>
          </p:cNvPr>
          <p:cNvSpPr/>
          <p:nvPr/>
        </p:nvSpPr>
        <p:spPr>
          <a:xfrm>
            <a:off x="725434" y="1042988"/>
            <a:ext cx="7942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cloud-based intrusion detection systems rely on traditional security tools such as firewalls, signature-based IDS, and machine learning models that use large feature sets.</a:t>
            </a:r>
            <a:endParaRPr lang="en-US" sz="1425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A4293AC-BBA2-625C-63AD-647D8D370C91}"/>
              </a:ext>
            </a:extLst>
          </p:cNvPr>
          <p:cNvSpPr/>
          <p:nvPr/>
        </p:nvSpPr>
        <p:spPr>
          <a:xfrm>
            <a:off x="476250" y="19573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2F033F9-EFFD-B607-00ED-29650D2F93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957388"/>
            <a:ext cx="134884" cy="287294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573DDCF-A7C9-66B1-B1B3-D3A47B33C2A2}"/>
              </a:ext>
            </a:extLst>
          </p:cNvPr>
          <p:cNvSpPr/>
          <p:nvPr/>
        </p:nvSpPr>
        <p:spPr>
          <a:xfrm>
            <a:off x="725434" y="19573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systems face challenges in handling large volumes of cloud traffic and have difficulty detecting unknown or new attack patterns.</a:t>
            </a:r>
            <a:endParaRPr lang="en-US" sz="1425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75D7B6A-911D-2CB5-A145-46EE1BED31B1}"/>
              </a:ext>
            </a:extLst>
          </p:cNvPr>
          <p:cNvSpPr/>
          <p:nvPr/>
        </p:nvSpPr>
        <p:spPr>
          <a:xfrm>
            <a:off x="476250" y="26431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363CECB6-6C0C-D6FD-77E1-96881A0DAC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643188"/>
            <a:ext cx="134884" cy="287294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7899B13A-347C-768F-9F6C-19CE4F4DA9EA}"/>
              </a:ext>
            </a:extLst>
          </p:cNvPr>
          <p:cNvSpPr/>
          <p:nvPr/>
        </p:nvSpPr>
        <p:spPr>
          <a:xfrm>
            <a:off x="725434" y="26431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Many existing IDS approaches use deep learning or multiple classifiers, which require high computational resources.</a:t>
            </a:r>
            <a:endParaRPr lang="en-US" sz="1425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8CAFB5C-0579-224C-75C4-77324F12E5E1}"/>
              </a:ext>
            </a:extLst>
          </p:cNvPr>
          <p:cNvSpPr/>
          <p:nvPr/>
        </p:nvSpPr>
        <p:spPr>
          <a:xfrm>
            <a:off x="476250" y="33289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994F8D99-412B-5035-580C-48FBEDB27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328988"/>
            <a:ext cx="134884" cy="287294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2D50D4A5-6DD7-A68A-A821-42A679B53DA8}"/>
              </a:ext>
            </a:extLst>
          </p:cNvPr>
          <p:cNvSpPr/>
          <p:nvPr/>
        </p:nvSpPr>
        <p:spPr>
          <a:xfrm>
            <a:off x="725434" y="33289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Due to large feature sets, existing systems often suffer from overfitting, high false alarms, and increased execution time.</a:t>
            </a:r>
            <a:endParaRPr lang="en-US" sz="1425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A836D0D-A89D-4B17-A8FF-B3C38886DDC9}"/>
              </a:ext>
            </a:extLst>
          </p:cNvPr>
          <p:cNvSpPr/>
          <p:nvPr/>
        </p:nvSpPr>
        <p:spPr>
          <a:xfrm>
            <a:off x="8067675" y="4529138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  <p:extLst>
      <p:ext uri="{BB962C8B-B14F-4D97-AF65-F5344CB8AC3E}">
        <p14:creationId xmlns:p14="http://schemas.microsoft.com/office/powerpoint/2010/main" val="268585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2250" y="285750"/>
            <a:ext cx="3619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4"/>
              </a:lnSpc>
              <a:buNone/>
            </a:pPr>
            <a:r>
              <a:rPr lang="en-US" sz="2244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Existing System Drawbacks</a:t>
            </a:r>
            <a:endParaRPr lang="en-US" sz="2244" dirty="0"/>
          </a:p>
        </p:txBody>
      </p:sp>
      <p:sp>
        <p:nvSpPr>
          <p:cNvPr id="3" name="Shape 1"/>
          <p:cNvSpPr/>
          <p:nvPr/>
        </p:nvSpPr>
        <p:spPr>
          <a:xfrm>
            <a:off x="476250" y="1042988"/>
            <a:ext cx="8191500" cy="2743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6250" y="1042988"/>
            <a:ext cx="8191500" cy="685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042988"/>
            <a:ext cx="134884" cy="287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5434" y="1042988"/>
            <a:ext cx="7942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cloud-based intrusion detection systems rely on traditional security tools such as firewalls, signature-based IDS, and machine learning models that use large feature sets.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476250" y="19573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957388"/>
            <a:ext cx="134884" cy="287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34" y="19573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High-dimensional data leads to longer training and detection time, making IDS inefficient for large-scale cloud environments.</a:t>
            </a:r>
            <a:endParaRPr lang="en-US" sz="1425" dirty="0"/>
          </a:p>
        </p:txBody>
      </p:sp>
      <p:sp>
        <p:nvSpPr>
          <p:cNvPr id="10" name="Shape 6"/>
          <p:cNvSpPr/>
          <p:nvPr/>
        </p:nvSpPr>
        <p:spPr>
          <a:xfrm>
            <a:off x="476250" y="26431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643188"/>
            <a:ext cx="134884" cy="2872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434" y="26431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Cloud environments generate large volumes of continuous network traffic, which existing IDS struggle to process in a timely manner.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476250" y="33289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328988"/>
            <a:ext cx="134884" cy="2872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434" y="33289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IDS fail to detect unknown attacks, while some machine learning models suffer from overfitting, leading to false alarms and poor generalization.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8077200" y="4529138"/>
            <a:ext cx="604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4238" y="285750"/>
            <a:ext cx="23002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4"/>
              </a:lnSpc>
              <a:buNone/>
            </a:pPr>
            <a:r>
              <a:rPr lang="en-US" sz="2244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Proposed System</a:t>
            </a:r>
            <a:endParaRPr lang="en-US" sz="2244" dirty="0"/>
          </a:p>
        </p:txBody>
      </p:sp>
      <p:sp>
        <p:nvSpPr>
          <p:cNvPr id="3" name="Shape 1"/>
          <p:cNvSpPr/>
          <p:nvPr/>
        </p:nvSpPr>
        <p:spPr>
          <a:xfrm>
            <a:off x="476250" y="1042988"/>
            <a:ext cx="8191500" cy="2743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6250" y="1042988"/>
            <a:ext cx="8191500" cy="685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042988"/>
            <a:ext cx="134884" cy="287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5434" y="1042988"/>
            <a:ext cx="7942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proposed system introduces a cloud-based intrusion detection approach that combines feature engineering with a Random Forest (RF) classifier to detect abnormal network activities.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476250" y="19573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957388"/>
            <a:ext cx="134884" cy="287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34" y="19573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performs data preprocessing and reduces the number of features by selecting only the most relevant ones for intrusion detection.</a:t>
            </a:r>
            <a:endParaRPr lang="en-US" sz="1425" dirty="0"/>
          </a:p>
        </p:txBody>
      </p:sp>
      <p:sp>
        <p:nvSpPr>
          <p:cNvPr id="10" name="Shape 6"/>
          <p:cNvSpPr/>
          <p:nvPr/>
        </p:nvSpPr>
        <p:spPr>
          <a:xfrm>
            <a:off x="476250" y="26431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643188"/>
            <a:ext cx="134884" cy="2872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434" y="26431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 reduction helps simplify the model and reduce computational complexity during training and detection.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476250" y="33289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328988"/>
            <a:ext cx="134884" cy="2872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434" y="33289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By using a reduced and optimized feature set, the proposed IDS becomes more efficient and reliable for handling cloud network traffic.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8067675" y="4529138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5588" y="285750"/>
            <a:ext cx="35528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4"/>
              </a:lnSpc>
              <a:buNone/>
            </a:pPr>
            <a:r>
              <a:rPr lang="en-US" sz="2244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Merits Of Proposed System</a:t>
            </a:r>
            <a:endParaRPr lang="en-US" sz="2244" dirty="0"/>
          </a:p>
        </p:txBody>
      </p:sp>
      <p:sp>
        <p:nvSpPr>
          <p:cNvPr id="3" name="Shape 1"/>
          <p:cNvSpPr/>
          <p:nvPr/>
        </p:nvSpPr>
        <p:spPr>
          <a:xfrm>
            <a:off x="476250" y="1233488"/>
            <a:ext cx="8191500" cy="2514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6250" y="12334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233488"/>
            <a:ext cx="134884" cy="287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5434" y="12334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proposed system efficiently analyzes cloud network traffic by using optimized features, making intrusion detection more reliable in dynamic cloud environments.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476250" y="19192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1919288"/>
            <a:ext cx="134884" cy="287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34" y="19192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use of a Random Forest classifier improves robustness and reduces the risk of overfitting compared to single-model approaches.</a:t>
            </a:r>
            <a:endParaRPr lang="en-US" sz="1425" dirty="0"/>
          </a:p>
        </p:txBody>
      </p:sp>
      <p:sp>
        <p:nvSpPr>
          <p:cNvPr id="10" name="Shape 6"/>
          <p:cNvSpPr/>
          <p:nvPr/>
        </p:nvSpPr>
        <p:spPr>
          <a:xfrm>
            <a:off x="476250" y="26050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605088"/>
            <a:ext cx="134884" cy="2872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434" y="26050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 selection reduces data complexity, leading to lower processing time and memory usage.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476250" y="3290888"/>
            <a:ext cx="8191500" cy="45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3290888"/>
            <a:ext cx="134884" cy="2872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434" y="3290888"/>
            <a:ext cx="7942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provides faster intrusion detection with reduced computational overhead, making it suitable for cloud-based environments.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8067675" y="4529138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8488" y="285750"/>
            <a:ext cx="28717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44"/>
              </a:lnSpc>
              <a:buNone/>
            </a:pPr>
            <a:r>
              <a:rPr lang="en-US" sz="2244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System Requirements</a:t>
            </a:r>
            <a:endParaRPr lang="en-US" sz="2244" dirty="0"/>
          </a:p>
        </p:txBody>
      </p:sp>
      <p:sp>
        <p:nvSpPr>
          <p:cNvPr id="3" name="Text 1"/>
          <p:cNvSpPr/>
          <p:nvPr/>
        </p:nvSpPr>
        <p:spPr>
          <a:xfrm>
            <a:off x="476250" y="1709738"/>
            <a:ext cx="247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710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Hardware Requirements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162675" y="1709738"/>
            <a:ext cx="2376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710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Software Requirements</a:t>
            </a:r>
            <a:endParaRPr lang="en-US" sz="1710" dirty="0"/>
          </a:p>
        </p:txBody>
      </p:sp>
      <p:sp>
        <p:nvSpPr>
          <p:cNvPr id="5" name="Shape 3"/>
          <p:cNvSpPr/>
          <p:nvPr/>
        </p:nvSpPr>
        <p:spPr>
          <a:xfrm>
            <a:off x="476250" y="2133600"/>
            <a:ext cx="1844622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76250" y="2133600"/>
            <a:ext cx="1844622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133600"/>
            <a:ext cx="134884" cy="2872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5434" y="2133600"/>
            <a:ext cx="1595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RAM - 8GB (min.) </a:t>
            </a:r>
            <a:endParaRPr lang="en-US" sz="1425" dirty="0"/>
          </a:p>
        </p:txBody>
      </p:sp>
      <p:sp>
        <p:nvSpPr>
          <p:cNvPr id="9" name="Shape 6"/>
          <p:cNvSpPr/>
          <p:nvPr/>
        </p:nvSpPr>
        <p:spPr>
          <a:xfrm>
            <a:off x="6162675" y="2133600"/>
            <a:ext cx="2806647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162675" y="2133600"/>
            <a:ext cx="2806647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2675" y="2133600"/>
            <a:ext cx="134884" cy="287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11859" y="2133600"/>
            <a:ext cx="2557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OS - Windows 10 and above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476250" y="2500313"/>
            <a:ext cx="3092397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76250" y="2500313"/>
            <a:ext cx="3092397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500313"/>
            <a:ext cx="134884" cy="2872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5434" y="2500313"/>
            <a:ext cx="2843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Minimum 50GB free disk space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476250" y="2867025"/>
            <a:ext cx="5526034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76250" y="2867025"/>
            <a:ext cx="5526034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2867025"/>
            <a:ext cx="134884" cy="2872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5434" y="28670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Any modern multi-core processor (Intel / AMD equivalent)</a:t>
            </a:r>
            <a:endParaRPr lang="en-US" sz="1425" dirty="0"/>
          </a:p>
        </p:txBody>
      </p:sp>
      <p:sp>
        <p:nvSpPr>
          <p:cNvPr id="21" name="Shape 15"/>
          <p:cNvSpPr/>
          <p:nvPr/>
        </p:nvSpPr>
        <p:spPr>
          <a:xfrm>
            <a:off x="6162675" y="2500313"/>
            <a:ext cx="2706634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6162675" y="2500313"/>
            <a:ext cx="2706634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2675" y="2500313"/>
            <a:ext cx="134884" cy="2872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11859" y="2500313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Backend - Python (Django)</a:t>
            </a:r>
            <a:endParaRPr lang="en-US" sz="1425" dirty="0"/>
          </a:p>
        </p:txBody>
      </p:sp>
      <p:sp>
        <p:nvSpPr>
          <p:cNvPr id="25" name="Shape 18"/>
          <p:cNvSpPr/>
          <p:nvPr/>
        </p:nvSpPr>
        <p:spPr>
          <a:xfrm>
            <a:off x="6162675" y="2867025"/>
            <a:ext cx="2635197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6162675" y="2867025"/>
            <a:ext cx="2635197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2675" y="2867025"/>
            <a:ext cx="134884" cy="28729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11859" y="2867025"/>
            <a:ext cx="2386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Frontend - HTML, CSS, JS</a:t>
            </a:r>
            <a:endParaRPr lang="en-US" sz="1425" dirty="0"/>
          </a:p>
        </p:txBody>
      </p:sp>
      <p:sp>
        <p:nvSpPr>
          <p:cNvPr id="29" name="Shape 21"/>
          <p:cNvSpPr/>
          <p:nvPr/>
        </p:nvSpPr>
        <p:spPr>
          <a:xfrm>
            <a:off x="6162675" y="3233738"/>
            <a:ext cx="1963684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6162675" y="3233738"/>
            <a:ext cx="1963684" cy="28729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2675" y="3233738"/>
            <a:ext cx="134884" cy="28729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11859" y="323373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24"/>
              </a:lnSpc>
              <a:buNone/>
            </a:pPr>
            <a:r>
              <a:rPr lang="en-US" sz="1425" dirty="0">
                <a:solidFill>
                  <a:srgbClr val="333333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Database - MySQL</a:t>
            </a:r>
            <a:endParaRPr lang="en-US" sz="1425" dirty="0"/>
          </a:p>
        </p:txBody>
      </p:sp>
      <p:sp>
        <p:nvSpPr>
          <p:cNvPr id="33" name="Text 24"/>
          <p:cNvSpPr/>
          <p:nvPr/>
        </p:nvSpPr>
        <p:spPr>
          <a:xfrm>
            <a:off x="7884942" y="4417255"/>
            <a:ext cx="782809" cy="340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4"/>
              </a:lnSpc>
              <a:buNone/>
            </a:pPr>
            <a:r>
              <a:rPr lang="en-US" sz="1425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 / </a:t>
            </a:r>
            <a:r>
              <a:rPr lang="en-US" sz="1425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2C131D-8B5E-5C21-67E2-F79A1C3F0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28" y="1138517"/>
            <a:ext cx="6839234" cy="37078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2FA1C7-B625-F2D7-AE4C-599B09C2B08D}"/>
              </a:ext>
            </a:extLst>
          </p:cNvPr>
          <p:cNvSpPr txBox="1"/>
          <p:nvPr/>
        </p:nvSpPr>
        <p:spPr>
          <a:xfrm>
            <a:off x="1624818" y="436098"/>
            <a:ext cx="425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Model (or) Architecture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68682-1359-4CF9-18A5-B90F7AF5343C}"/>
              </a:ext>
            </a:extLst>
          </p:cNvPr>
          <p:cNvSpPr txBox="1"/>
          <p:nvPr/>
        </p:nvSpPr>
        <p:spPr>
          <a:xfrm>
            <a:off x="7920111" y="4523155"/>
            <a:ext cx="1132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A1A1A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10/</a:t>
            </a:r>
            <a:r>
              <a:rPr lang="en-US" dirty="0">
                <a:solidFill>
                  <a:srgbClr val="808080">
                    <a:alpha val="99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534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4725" y="2343150"/>
            <a:ext cx="2114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20"/>
              </a:lnSpc>
              <a:buNone/>
            </a:pPr>
            <a:r>
              <a:rPr lang="en-US" sz="3420" b="1" dirty="0">
                <a:solidFill>
                  <a:srgbClr val="1A1A1A">
                    <a:alpha val="99000"/>
                  </a:srgbClr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Thank You</a:t>
            </a:r>
            <a:endParaRPr lang="en-US" sz="3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687</Words>
  <Application>Microsoft Office PowerPoint</Application>
  <PresentationFormat>On-screen Show (16:9)</PresentationFormat>
  <Paragraphs>87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 Sans</vt:lpstr>
      <vt:lpstr>Inter Display</vt:lpstr>
      <vt:lpstr>Inter Medium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Santhosh Pallapu</cp:lastModifiedBy>
  <cp:revision>2</cp:revision>
  <dcterms:created xsi:type="dcterms:W3CDTF">2026-03-09T06:57:15Z</dcterms:created>
  <dcterms:modified xsi:type="dcterms:W3CDTF">2026-03-09T07:29:01Z</dcterms:modified>
</cp:coreProperties>
</file>